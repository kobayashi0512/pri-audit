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806be930ce4e60" /><Relationship Type="http://schemas.openxmlformats.org/officeDocument/2006/relationships/extended-properties" Target="/docProps/app.xml" Id="R491b3681070449de" /><Relationship Type="http://schemas.openxmlformats.org/officeDocument/2006/relationships/officeDocument" Target="/ppt/presentation.xml" Id="R572125c3ff5245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1ddee7a3754140"/>
  </p:sldMasterIdLst>
  <p:notesMasterIdLst>
    <p:notesMasterId xmlns:r="http://schemas.openxmlformats.org/officeDocument/2006/relationships" r:id="R9552c52de5de4325"/>
  </p:notesMasterIdLst>
  <p:sldIdLst>
    <p:sldId xmlns:r="http://schemas.openxmlformats.org/officeDocument/2006/relationships" id="256" r:id="R81e27c2ea7c04dc6"/>
    <p:sldId xmlns:r="http://schemas.openxmlformats.org/officeDocument/2006/relationships" id="257" r:id="Rba025ca68fe84c72"/>
    <p:sldId xmlns:r="http://schemas.openxmlformats.org/officeDocument/2006/relationships" id="258" r:id="R5b7dbf09f76d42bc"/>
    <p:sldId xmlns:r="http://schemas.openxmlformats.org/officeDocument/2006/relationships" id="259" r:id="Re7d71588b4f2411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c5b72f77da4226" /><Relationship Type="http://schemas.openxmlformats.org/officeDocument/2006/relationships/slideMaster" Target="/ppt/slideMasters/slideMaster1.xml" Id="R9c1ddee7a3754140" /><Relationship Type="http://schemas.openxmlformats.org/officeDocument/2006/relationships/notesMaster" Target="/ppt/notesMasters/notesMaster1.xml" Id="R9552c52de5de4325" /><Relationship Type="http://schemas.openxmlformats.org/officeDocument/2006/relationships/presProps" Target="/ppt/presProps.xml" Id="R4afe1a2c61384c74" /><Relationship Type="http://schemas.openxmlformats.org/officeDocument/2006/relationships/tableStyles" Target="/ppt/tableStyles.xml" Id="Rf93148058f4f428a" /><Relationship Type="http://schemas.openxmlformats.org/officeDocument/2006/relationships/slide" Target="/ppt/slides/slide1.xml" Id="R81e27c2ea7c04dc6" /><Relationship Type="http://schemas.openxmlformats.org/officeDocument/2006/relationships/slide" Target="/ppt/slides/slide2.xml" Id="Rba025ca68fe84c72" /><Relationship Type="http://schemas.openxmlformats.org/officeDocument/2006/relationships/slide" Target="/ppt/slides/slide3.xml" Id="R5b7dbf09f76d42bc" /><Relationship Type="http://schemas.openxmlformats.org/officeDocument/2006/relationships/slide" Target="/ppt/slides/slide4.xml" Id="Re7d71588b4f241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7f7539beda40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9d9fd3d6524a53" /><Relationship Type="http://schemas.openxmlformats.org/officeDocument/2006/relationships/notesMaster" Target="/ppt/notesMasters/notesMaster1.xml" Id="R0c904046c84444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978ee9095b4f9e" /><Relationship Type="http://schemas.openxmlformats.org/officeDocument/2006/relationships/notesMaster" Target="/ppt/notesMasters/notesMaster1.xml" Id="R8767c23544534f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dcec28c3b94514" /><Relationship Type="http://schemas.openxmlformats.org/officeDocument/2006/relationships/notesMaster" Target="/ppt/notesMasters/notesMaster1.xml" Id="Rcf489de29f464b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3d54ffd5784293" /><Relationship Type="http://schemas.openxmlformats.org/officeDocument/2006/relationships/notesMaster" Target="/ppt/notesMasters/notesMaster1.xml" Id="R457f90cb65134b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https://www.ncbi.nlm.nih.gov/geo/query/acc.cgi?acc=GSE117239</a:t>
            </a:r>
          </a:p>
          <a:p xmlns:a="http://schemas.openxmlformats.org/drawingml/2006/main">
            <a:r>
              <a:t>- https://www.ncbi.nlm.nih.gov/geo/query/acc.cgi?acc=GSE136757</a:t>
            </a:r>
          </a:p>
          <a:p xmlns:a="http://schemas.openxmlformats.org/drawingml/2006/main">
            <a:r>
              <a:t>- https://www.ncbi.nlm.nih.gov/geo/query/acc.cgi?acc=GSE153007</a:t>
            </a:r>
          </a:p>
          <a:p xmlns:a="http://schemas.openxmlformats.org/drawingml/2006/main">
            <a:r>
              <a:t>- https://www.ncbi.nlm.nih.gov/geo/query/acc.cgi?acc=GSE182740</a:t>
            </a:r>
          </a:p>
          <a:p xmlns:a="http://schemas.openxmlformats.org/drawingml/2006/main">
            <a:r>
              <a:t>- https://www.ncbi.nlm.nih.gov/geo/query/acc.cgi?acc=GSE51440</a:t>
            </a:r>
          </a:p>
          <a:p xmlns:a="http://schemas.openxmlformats.org/drawingml/2006/main">
            <a:r>
              <a:t>- https://www.ncbi.nlm.nih.gov/geo/query/acc.cgi?acc=GSE57225</a:t>
            </a:r>
          </a:p>
          <a:p xmlns:a="http://schemas.openxmlformats.org/drawingml/2006/main">
            <a:r>
              <a:t>- https://www.ncbi.nlm.nih.gov/geo/query/acc.cgi?acc=GSE85034</a:t>
            </a:r>
          </a:p>
          <a:p xmlns:a="http://schemas.openxmlformats.org/drawingml/2006/main">
            <a:r>
              <a:t>- https://www.ncbi.nlm.nih.gov/geo/query/acc.cgi?acc=GSE151177</a:t>
            </a:r>
          </a:p>
          <a:p xmlns:a="http://schemas.openxmlformats.org/drawingml/2006/main">
            <a:r>
              <a:t>- https://www.ncbi.nlm.nih.gov/geo/query/acc.cgi?acc=GSE173706</a:t>
            </a:r>
          </a:p>
          <a:p xmlns:a="http://schemas.openxmlformats.org/drawingml/2006/main">
            <a:r>
              <a:t>- https://www.ncbi.nlm.nih.gov/geo/query/acc.cgi?acc=GSE206391</a:t>
            </a:r>
          </a:p>
          <a:p xmlns:a="http://schemas.openxmlformats.org/drawingml/2006/main">
            <a:r>
              <a:t>- https://www.ncbi.nlm.nih.gov/geo/query/acc.cgi?acc=GSE24767</a:t>
            </a:r>
          </a:p>
          <a:p xmlns:a="http://schemas.openxmlformats.org/drawingml/2006/main">
            <a:r>
              <a:t>- figED13_bulk_patient_program_distributions.png</a:t>
            </a:r>
          </a:p>
          <a:p xmlns:a="http://schemas.openxmlformats.org/drawingml/2006/main">
            <a:r>
              <a:t>- figED11_observed_single_cell_landscapes.png</a:t>
            </a:r>
          </a:p>
          <a:p xmlns:a="http://schemas.openxmlformats.org/drawingml/2006/main">
            <a:r>
              <a:t>- gse206391_representative_LS_NL_spatial_map.png</a:t>
            </a:r>
          </a:p>
          <a:p xmlns:a="http://schemas.openxmlformats.org/drawingml/2006/main">
            <a:r>
              <a:t>- figED14_calm_cytokine_donor_responses.png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https://www.ncbi.nlm.nih.gov/geo/query/acc.cgi?acc=GSE117239</a:t>
            </a:r>
          </a:p>
          <a:p xmlns:a="http://schemas.openxmlformats.org/drawingml/2006/main">
            <a:r>
              <a:t>- https://www.ncbi.nlm.nih.gov/geo/query/acc.cgi?acc=GSE136757</a:t>
            </a:r>
          </a:p>
          <a:p xmlns:a="http://schemas.openxmlformats.org/drawingml/2006/main">
            <a:r>
              <a:t>- https://www.ncbi.nlm.nih.gov/geo/query/acc.cgi?acc=GSE153007</a:t>
            </a:r>
          </a:p>
          <a:p xmlns:a="http://schemas.openxmlformats.org/drawingml/2006/main">
            <a:r>
              <a:t>- https://www.ncbi.nlm.nih.gov/geo/query/acc.cgi?acc=GSE182740</a:t>
            </a:r>
          </a:p>
          <a:p xmlns:a="http://schemas.openxmlformats.org/drawingml/2006/main">
            <a:r>
              <a:t>- https://www.ncbi.nlm.nih.gov/geo/query/acc.cgi?acc=GSE51440</a:t>
            </a:r>
          </a:p>
          <a:p xmlns:a="http://schemas.openxmlformats.org/drawingml/2006/main">
            <a:r>
              <a:t>- https://www.ncbi.nlm.nih.gov/geo/query/acc.cgi?acc=GSE57225</a:t>
            </a:r>
          </a:p>
          <a:p xmlns:a="http://schemas.openxmlformats.org/drawingml/2006/main">
            <a:r>
              <a:t>- https://www.ncbi.nlm.nih.gov/geo/query/acc.cgi?acc=GSE85034</a:t>
            </a:r>
          </a:p>
          <a:p xmlns:a="http://schemas.openxmlformats.org/drawingml/2006/main">
            <a:r>
              <a:t>- https://www.ncbi.nlm.nih.gov/geo/query/acc.cgi?acc=GSE151177</a:t>
            </a:r>
          </a:p>
          <a:p xmlns:a="http://schemas.openxmlformats.org/drawingml/2006/main">
            <a:r>
              <a:t>- https://www.ncbi.nlm.nih.gov/geo/query/acc.cgi?acc=GSE173706</a:t>
            </a:r>
          </a:p>
          <a:p xmlns:a="http://schemas.openxmlformats.org/drawingml/2006/main">
            <a:r>
              <a:t>- https://www.ncbi.nlm.nih.gov/geo/query/acc.cgi?acc=GSE206391</a:t>
            </a:r>
          </a:p>
          <a:p xmlns:a="http://schemas.openxmlformats.org/drawingml/2006/main">
            <a:r>
              <a:t>- https://www.ncbi.nlm.nih.gov/geo/query/acc.cgi?acc=GSE24767</a:t>
            </a:r>
          </a:p>
          <a:p xmlns:a="http://schemas.openxmlformats.org/drawingml/2006/main">
            <a:r>
              <a:t>- all 11 data-derived asset crops</a:t>
            </a:r>
          </a:p>
          <a:p xmlns:a="http://schemas.openxmlformats.org/drawingml/2006/main">
            <a:r>
              <a:t>- fig5_unsupervised_optimism.png</a:t>
            </a:r>
          </a:p>
          <a:p xmlns:a="http://schemas.openxmlformats.org/drawingml/2006/main">
            <a:r>
              <a:t>- fig6_external_transfer.png</a:t>
            </a:r>
          </a:p>
          <a:p xmlns:a="http://schemas.openxmlformats.org/drawingml/2006/main">
            <a:r>
              <a:t>- fig8_falsification_evidence_map.png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https://www.ncbi.nlm.nih.gov/geo/query/acc.cgi?acc=GSE117239</a:t>
            </a:r>
          </a:p>
          <a:p xmlns:a="http://schemas.openxmlformats.org/drawingml/2006/main">
            <a:r>
              <a:t>- https://www.ncbi.nlm.nih.gov/geo/query/acc.cgi?acc=GSE136757</a:t>
            </a:r>
          </a:p>
          <a:p xmlns:a="http://schemas.openxmlformats.org/drawingml/2006/main">
            <a:r>
              <a:t>- https://www.ncbi.nlm.nih.gov/geo/query/acc.cgi?acc=GSE153007</a:t>
            </a:r>
          </a:p>
          <a:p xmlns:a="http://schemas.openxmlformats.org/drawingml/2006/main">
            <a:r>
              <a:t>- https://www.ncbi.nlm.nih.gov/geo/query/acc.cgi?acc=GSE182740</a:t>
            </a:r>
          </a:p>
          <a:p xmlns:a="http://schemas.openxmlformats.org/drawingml/2006/main">
            <a:r>
              <a:t>- https://www.ncbi.nlm.nih.gov/geo/query/acc.cgi?acc=GSE51440</a:t>
            </a:r>
          </a:p>
          <a:p xmlns:a="http://schemas.openxmlformats.org/drawingml/2006/main">
            <a:r>
              <a:t>- https://www.ncbi.nlm.nih.gov/geo/query/acc.cgi?acc=GSE57225</a:t>
            </a:r>
          </a:p>
          <a:p xmlns:a="http://schemas.openxmlformats.org/drawingml/2006/main">
            <a:r>
              <a:t>- https://www.ncbi.nlm.nih.gov/geo/query/acc.cgi?acc=GSE85034</a:t>
            </a:r>
          </a:p>
          <a:p xmlns:a="http://schemas.openxmlformats.org/drawingml/2006/main">
            <a:r>
              <a:t>- https://www.ncbi.nlm.nih.gov/geo/query/acc.cgi?acc=GSE151177</a:t>
            </a:r>
          </a:p>
          <a:p xmlns:a="http://schemas.openxmlformats.org/drawingml/2006/main">
            <a:r>
              <a:t>- https://www.ncbi.nlm.nih.gov/geo/query/acc.cgi?acc=GSE173706</a:t>
            </a:r>
          </a:p>
          <a:p xmlns:a="http://schemas.openxmlformats.org/drawingml/2006/main">
            <a:r>
              <a:t>- https://www.ncbi.nlm.nih.gov/geo/query/acc.cgi?acc=GSE206391</a:t>
            </a:r>
          </a:p>
          <a:p xmlns:a="http://schemas.openxmlformats.org/drawingml/2006/main">
            <a:r>
              <a:t>- https://www.ncbi.nlm.nih.gov/geo/query/acc.cgi?acc=GSE24767</a:t>
            </a:r>
          </a:p>
          <a:p xmlns:a="http://schemas.openxmlformats.org/drawingml/2006/main">
            <a:r>
              <a:t>- data-derived input panels</a:t>
            </a:r>
          </a:p>
          <a:p xmlns:a="http://schemas.openxmlformats.org/drawingml/2006/main">
            <a:r>
              <a:t>- fig8_falsification_evidence_map.png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https://www.ncbi.nlm.nih.gov/geo/query/acc.cgi?acc=GSE151177</a:t>
            </a:r>
          </a:p>
          <a:p xmlns:a="http://schemas.openxmlformats.org/drawingml/2006/main">
            <a:r>
              <a:t>- https://www.ncbi.nlm.nih.gov/geo/query/acc.cgi?acc=GSE173706</a:t>
            </a:r>
          </a:p>
          <a:p xmlns:a="http://schemas.openxmlformats.org/drawingml/2006/main">
            <a:r>
              <a:t>- https://www.ncbi.nlm.nih.gov/geo/query/acc.cgi?acc=GSE206391</a:t>
            </a:r>
          </a:p>
          <a:p xmlns:a="http://schemas.openxmlformats.org/drawingml/2006/main">
            <a:r>
              <a:t>- fig10_robustness_multiverse.png</a:t>
            </a:r>
          </a:p>
          <a:p xmlns:a="http://schemas.openxmlformats.org/drawingml/2006/main">
            <a:r>
              <a:t>- fig5_unsupervised_optimism.png</a:t>
            </a:r>
          </a:p>
          <a:p xmlns:a="http://schemas.openxmlformats.org/drawingml/2006/main">
            <a:r>
              <a:t>- fig6_external_transfer.png</a:t>
            </a:r>
          </a:p>
          <a:p xmlns:a="http://schemas.openxmlformats.org/drawingml/2006/main">
            <a:r>
              <a:t>- fig7_strict_spatial_value.png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81ff6370c4f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ca8e4fe06247ba" /><Relationship Type="http://schemas.openxmlformats.org/officeDocument/2006/relationships/slideLayout" Target="/ppt/slideLayouts/slideLayout1.xml" Id="R2d5912d726bb49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5912d726bb49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e8bd157834c3a" /><Relationship Type="http://schemas.openxmlformats.org/officeDocument/2006/relationships/image" Target="/ppt/media/image.png" Id="R5bf5aa4dd9244817" /><Relationship Type="http://schemas.openxmlformats.org/officeDocument/2006/relationships/image" Target="/ppt/media/image2.png" Id="R869df4a335b649ce" /><Relationship Type="http://schemas.openxmlformats.org/officeDocument/2006/relationships/image" Target="/ppt/media/image3.png" Id="Rb796b6a32f0c4076" /><Relationship Type="http://schemas.openxmlformats.org/officeDocument/2006/relationships/image" Target="/ppt/media/image4.png" Id="R1b1940be71b848ab" /><Relationship Type="http://schemas.openxmlformats.org/officeDocument/2006/relationships/image" Target="/ppt/media/image5.png" Id="Rbf110bdf64d34938" /><Relationship Type="http://schemas.openxmlformats.org/officeDocument/2006/relationships/notesSlide" Target="/ppt/notesSlides/notesSlide1.xml" Id="R878080687ea94c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2f8ec04704072" /><Relationship Type="http://schemas.openxmlformats.org/officeDocument/2006/relationships/image" Target="/ppt/media/image6.png" Id="R03514f9b48984b6e" /><Relationship Type="http://schemas.openxmlformats.org/officeDocument/2006/relationships/image" Target="/ppt/media/image7.png" Id="R36f6f0435cf2496d" /><Relationship Type="http://schemas.openxmlformats.org/officeDocument/2006/relationships/image" Target="/ppt/media/image8.png" Id="R362d83a8cde54aca" /><Relationship Type="http://schemas.openxmlformats.org/officeDocument/2006/relationships/image" Target="/ppt/media/image9.png" Id="R3207c14b443645b4" /><Relationship Type="http://schemas.openxmlformats.org/officeDocument/2006/relationships/image" Target="/ppt/media/image10.png" Id="R690c087ecab34986" /><Relationship Type="http://schemas.openxmlformats.org/officeDocument/2006/relationships/image" Target="/ppt/media/image11.png" Id="R2100e5d127cc48ab" /><Relationship Type="http://schemas.openxmlformats.org/officeDocument/2006/relationships/image" Target="/ppt/media/image12.png" Id="R9d02e3178f6240cf" /><Relationship Type="http://schemas.openxmlformats.org/officeDocument/2006/relationships/image" Target="/ppt/media/image13.png" Id="Rd91c631fdd1f4686" /><Relationship Type="http://schemas.openxmlformats.org/officeDocument/2006/relationships/image" Target="/ppt/media/image14.png" Id="R3dbcca268bc74c97" /><Relationship Type="http://schemas.openxmlformats.org/officeDocument/2006/relationships/image" Target="/ppt/media/image15.png" Id="Rf4e4e891815f4048" /><Relationship Type="http://schemas.openxmlformats.org/officeDocument/2006/relationships/image" Target="/ppt/media/image16.png" Id="Ra6e0911d4fad4016" /><Relationship Type="http://schemas.openxmlformats.org/officeDocument/2006/relationships/image" Target="/ppt/media/image17.png" Id="Rc54bb448f06a40e0" /><Relationship Type="http://schemas.openxmlformats.org/officeDocument/2006/relationships/image" Target="/ppt/media/image18.png" Id="R9c6a45e9fb584968" /><Relationship Type="http://schemas.openxmlformats.org/officeDocument/2006/relationships/image" Target="/ppt/media/image19.png" Id="R367c9d9738594e0f" /><Relationship Type="http://schemas.openxmlformats.org/officeDocument/2006/relationships/image" Target="/ppt/media/image20.png" Id="R3b6ec4da3aed4229" /><Relationship Type="http://schemas.openxmlformats.org/officeDocument/2006/relationships/image" Target="/ppt/media/image21.png" Id="R53b83629f324432b" /><Relationship Type="http://schemas.openxmlformats.org/officeDocument/2006/relationships/notesSlide" Target="/ppt/notesSlides/notesSlide2.xml" Id="R122aeae0501d42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70e27e22f451d" /><Relationship Type="http://schemas.openxmlformats.org/officeDocument/2006/relationships/image" Target="/ppt/media/image22.png" Id="R16fcb0af35b5404e" /><Relationship Type="http://schemas.openxmlformats.org/officeDocument/2006/relationships/image" Target="/ppt/media/image23.png" Id="R439d5dd7db8e431c" /><Relationship Type="http://schemas.openxmlformats.org/officeDocument/2006/relationships/image" Target="/ppt/media/image24.png" Id="Rbbde7a9cdd1346e4" /><Relationship Type="http://schemas.openxmlformats.org/officeDocument/2006/relationships/image" Target="/ppt/media/image25.png" Id="R183c7bcbac474ce8" /><Relationship Type="http://schemas.openxmlformats.org/officeDocument/2006/relationships/image" Target="/ppt/media/image26.png" Id="R72fa10889ecb42c8" /><Relationship Type="http://schemas.openxmlformats.org/officeDocument/2006/relationships/image" Target="/ppt/media/image27.png" Id="Rb845bdad9cbb4d1c" /><Relationship Type="http://schemas.openxmlformats.org/officeDocument/2006/relationships/image" Target="/ppt/media/image28.png" Id="Rc4d4e56d153c4fde" /><Relationship Type="http://schemas.openxmlformats.org/officeDocument/2006/relationships/image" Target="/ppt/media/image29.png" Id="R89de9860fdad4e4e" /><Relationship Type="http://schemas.openxmlformats.org/officeDocument/2006/relationships/image" Target="/ppt/media/image30.png" Id="R9353a52299724e07" /><Relationship Type="http://schemas.openxmlformats.org/officeDocument/2006/relationships/image" Target="/ppt/media/image31.png" Id="Ra26838cc4aca492d" /><Relationship Type="http://schemas.openxmlformats.org/officeDocument/2006/relationships/notesSlide" Target="/ppt/notesSlides/notesSlide3.xml" Id="R25dcd7d02c4147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b50ccbde14d34" /><Relationship Type="http://schemas.openxmlformats.org/officeDocument/2006/relationships/image" Target="/ppt/media/image32.png" Id="Rce53ee35fb884ba1" /><Relationship Type="http://schemas.openxmlformats.org/officeDocument/2006/relationships/image" Target="/ppt/media/image33.png" Id="R7db0c7f8c640416a" /><Relationship Type="http://schemas.openxmlformats.org/officeDocument/2006/relationships/image" Target="/ppt/media/image34.png" Id="Ra34dab63d5ad414d" /><Relationship Type="http://schemas.openxmlformats.org/officeDocument/2006/relationships/image" Target="/ppt/media/image35.png" Id="Rac8240e6a925465d" /><Relationship Type="http://schemas.openxmlformats.org/officeDocument/2006/relationships/image" Target="/ppt/media/image36.png" Id="R135c08db00854542" /><Relationship Type="http://schemas.openxmlformats.org/officeDocument/2006/relationships/notesSlide" Target="/ppt/notesSlides/notesSlide4.xml" Id="R0f5763b6997246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1">
            <a:extLst xmlns:a="http://schemas.openxmlformats.org/drawingml/2006/main">
              <a:ext uri="{FF2B5EF4-FFF2-40B4-BE49-F238E27FC236}">
                <a16:creationId xmlns:a16="http://schemas.microsoft.com/office/drawing/2014/main" id="{02B64A61-688A-41FF-A3F2-CC578FD2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8776E"/>
                </a:solidFill>
              </a:defRPr>
            </a:pPr>
            <a:r>
              <a:rPr sz="1200" b="1">
                <a:solidFill>
                  <a:srgbClr val="28776E"/>
                </a:solidFill>
              </a:rPr>
              <a:t>PUBLIC-DATA FOUNDATION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BCAC5FCE-9436-4324-A5B0-1A360584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314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313A"/>
                </a:solidFill>
              </a:defRPr>
            </a:pPr>
            <a:r>
              <a:rPr sz="3150" b="1">
                <a:solidFill>
                  <a:srgbClr val="20313A"/>
                </a:solidFill>
              </a:rPr>
              <a:t>Eleven datasets map psoriasis at four biological scales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BD6DBCFA-38CD-4DBD-9F03-EBAC8D7D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27C"/>
                </a:solidFill>
              </a:defRPr>
            </a:pPr>
            <a:r>
              <a:rPr sz="1350" b="0">
                <a:solidFill>
                  <a:srgbClr val="60727C"/>
                </a:solidFill>
              </a:rPr>
              <a:t>Every panel below is computed from the deposited expression matrix—no illustrative substitute is used.</a:t>
            </a:r>
          </a:p>
        </p:txBody>
      </p:sp>
      <p:sp>
        <p:nvSpPr>
          <p:cNvPr id="4" name="figure-no-1">
            <a:extLst xmlns:a="http://schemas.openxmlformats.org/drawingml/2006/main">
              <a:ext uri="{FF2B5EF4-FFF2-40B4-BE49-F238E27FC236}">
                <a16:creationId xmlns:a16="http://schemas.microsoft.com/office/drawing/2014/main" id="{40DA60E8-7EE1-4760-9495-434A4A9C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04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0727C"/>
                </a:solidFill>
              </a:defRPr>
            </a:pPr>
            <a:r>
              <a:rPr sz="1050" b="1">
                <a:solidFill>
                  <a:srgbClr val="60727C"/>
                </a:solidFill>
              </a:rPr>
              <a:t>FIGURE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C0C35-9A4F-4CBC-A13C-7CE0BBF0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667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E8F1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8C88A-55F9-4E50-9BBE-BE27D31D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843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37A"/>
                </a:solidFill>
              </a:defRPr>
            </a:pPr>
            <a:r>
              <a:rPr sz="1350" b="1">
                <a:solidFill>
                  <a:srgbClr val="2E637A"/>
                </a:solidFill>
              </a:rPr>
              <a:t>PAIRED BULK · 7 COHORTS · 191 PATIENT PAIRS</a:t>
            </a:r>
          </a:p>
        </p:txBody>
      </p:sp>
      <p:sp>
        <p:nvSpPr>
          <p:cNvPr id="7" name="bulk-seven-frame">
            <a:extLst xmlns:a="http://schemas.openxmlformats.org/drawingml/2006/main">
              <a:ext uri="{FF2B5EF4-FFF2-40B4-BE49-F238E27FC236}">
                <a16:creationId xmlns:a16="http://schemas.microsoft.com/office/drawing/2014/main" id="{6D35AA44-501D-4CA5-954D-A903677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667750" cy="56197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E8EA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5aa4dd9244817"/>
          <a:stretch xmlns:a="http://schemas.openxmlformats.org/drawingml/2006/main"/>
        </p:blipFill>
        <p:spPr>
          <a:xfrm xmlns:a="http://schemas.openxmlformats.org/drawingml/2006/main">
            <a:off x="1860857" y="1924050"/>
            <a:ext cx="5974737" cy="5314950"/>
          </a:xfrm>
          <a:prstGeom xmlns:a="http://schemas.openxmlformats.org/drawingml/2006/main" prst="roundRect">
            <a:avLst>
              <a:gd name="adj" fmla="val 143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3EF66-DD86-4095-A8B4-ABD06D0C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24700"/>
            <a:ext cx="802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637A"/>
                </a:solidFill>
              </a:defRPr>
            </a:pPr>
            <a:r>
              <a:rPr sz="1200" b="1">
                <a:solidFill>
                  <a:srgbClr val="2E637A"/>
                </a:solidFill>
              </a:rPr>
              <a:t>Fixed programs: Epidermal · IL-17 / innate · Interferon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855FE-8EEA-4755-8B78-66D74F41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52550"/>
            <a:ext cx="5295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EFDF"/>
          </a:solidFill>
          <a:ln xmlns:a="http://schemas.openxmlformats.org/drawingml/2006/main" w="13335">
            <a:solidFill>
              <a:srgbClr val="F7EF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60C84-D3BD-4917-AA5E-AA21892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0017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E672C"/>
                </a:solidFill>
              </a:defRPr>
            </a:pPr>
            <a:r>
              <a:rPr sz="1350" b="1">
                <a:solidFill>
                  <a:srgbClr val="8E672C"/>
                </a:solidFill>
              </a:rPr>
              <a:t>HIGH-RESOLUTION + PERTURBATION</a:t>
            </a:r>
          </a:p>
        </p:txBody>
      </p:sp>
      <p:sp>
        <p:nvSpPr>
          <p:cNvPr id="12" name="tile-GSE151177">
            <a:extLst xmlns:a="http://schemas.openxmlformats.org/drawingml/2006/main">
              <a:ext uri="{FF2B5EF4-FFF2-40B4-BE49-F238E27FC236}">
                <a16:creationId xmlns:a16="http://schemas.microsoft.com/office/drawing/2014/main" id="{9DE9C33B-29BE-4BA8-AABD-8C6190EF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571750" cy="27241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9A9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B3C14-3EF2-4C00-8DBA-89C6FEB5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859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13A"/>
                </a:solidFill>
              </a:defRPr>
            </a:pPr>
            <a:r>
              <a:rPr sz="1275" b="1">
                <a:solidFill>
                  <a:srgbClr val="20313A"/>
                </a:solidFill>
              </a:rPr>
              <a:t>GSE151177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7B79F-1290-4908-808B-8AAC4BBD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145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scRNA-seq · 19,868 displayed cells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df4a335b649ce"/>
          <a:stretch xmlns:a="http://schemas.openxmlformats.org/drawingml/2006/main"/>
        </p:blipFill>
        <p:spPr>
          <a:xfrm xmlns:a="http://schemas.openxmlformats.org/drawingml/2006/main">
            <a:off x="9535583" y="2333625"/>
            <a:ext cx="2360083" cy="2124075"/>
          </a:xfrm>
          <a:prstGeom xmlns:a="http://schemas.openxmlformats.org/drawingml/2006/main" prst="roundRect">
            <a:avLst>
              <a:gd name="adj" fmla="val 3587"/>
            </a:avLst>
          </a:prstGeom>
        </p:spPr>
      </p:pic>
      <p:sp>
        <p:nvSpPr>
          <p:cNvPr id="16" name="tile-GSE173706">
            <a:extLst xmlns:a="http://schemas.openxmlformats.org/drawingml/2006/main">
              <a:ext uri="{FF2B5EF4-FFF2-40B4-BE49-F238E27FC236}">
                <a16:creationId xmlns:a16="http://schemas.microsoft.com/office/drawing/2014/main" id="{F78C7A9A-F1EE-4B23-89CE-3D62DD8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1809750"/>
            <a:ext cx="2571750" cy="27241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77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6CD80-32D1-41FA-A2C5-B28A14B5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8859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13A"/>
                </a:solidFill>
              </a:defRPr>
            </a:pPr>
            <a:r>
              <a:rPr sz="1275" b="1">
                <a:solidFill>
                  <a:srgbClr val="20313A"/>
                </a:solidFill>
              </a:rPr>
              <a:t>GSE173706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06759-E44B-470D-A6ED-5005BF26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1145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scRNA-seq · 14,493 displayed cells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6b6a32f0c4076"/>
          <a:stretch xmlns:a="http://schemas.openxmlformats.org/drawingml/2006/main"/>
        </p:blipFill>
        <p:spPr>
          <a:xfrm xmlns:a="http://schemas.openxmlformats.org/drawingml/2006/main">
            <a:off x="12259733" y="2333625"/>
            <a:ext cx="2360083" cy="2124075"/>
          </a:xfrm>
          <a:prstGeom xmlns:a="http://schemas.openxmlformats.org/drawingml/2006/main" prst="roundRect">
            <a:avLst>
              <a:gd name="adj" fmla="val 3587"/>
            </a:avLst>
          </a:prstGeom>
        </p:spPr>
      </p:pic>
      <p:sp>
        <p:nvSpPr>
          <p:cNvPr id="20" name="tile-GSE206391">
            <a:extLst xmlns:a="http://schemas.openxmlformats.org/drawingml/2006/main">
              <a:ext uri="{FF2B5EF4-FFF2-40B4-BE49-F238E27FC236}">
                <a16:creationId xmlns:a16="http://schemas.microsoft.com/office/drawing/2014/main" id="{CCFF8049-9709-4B2E-88FB-0740483F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05350"/>
            <a:ext cx="2571750" cy="27241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17C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EBFAB-2EAE-4105-B5EE-42254C68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815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13A"/>
                </a:solidFill>
              </a:defRPr>
            </a:pPr>
            <a:r>
              <a:rPr sz="1275" b="1">
                <a:solidFill>
                  <a:srgbClr val="20313A"/>
                </a:solidFill>
              </a:rPr>
              <a:t>GSE206391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D2ECC-E086-426C-8EE0-40936D31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101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spatial · 12 paired patients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940be71b848ab"/>
          <a:stretch xmlns:a="http://schemas.openxmlformats.org/drawingml/2006/main"/>
        </p:blipFill>
        <p:spPr>
          <a:xfrm xmlns:a="http://schemas.openxmlformats.org/drawingml/2006/main">
            <a:off x="9505950" y="5807393"/>
            <a:ext cx="2419350" cy="967740"/>
          </a:xfrm>
          <a:prstGeom xmlns:a="http://schemas.openxmlformats.org/drawingml/2006/main" prst="roundRect">
            <a:avLst>
              <a:gd name="adj" fmla="val 3587"/>
            </a:avLst>
          </a:prstGeom>
        </p:spPr>
      </p:pic>
      <p:sp>
        <p:nvSpPr>
          <p:cNvPr id="24" name="tile-GSE24767">
            <a:extLst xmlns:a="http://schemas.openxmlformats.org/drawingml/2006/main">
              <a:ext uri="{FF2B5EF4-FFF2-40B4-BE49-F238E27FC236}">
                <a16:creationId xmlns:a16="http://schemas.microsoft.com/office/drawing/2014/main" id="{1AA63B0E-0FD2-475C-A1F6-E0D0F4E1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705350"/>
            <a:ext cx="2571750" cy="27241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49A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2A17A-6AE9-4326-8C41-88ECF465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7815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13A"/>
                </a:solidFill>
              </a:defRPr>
            </a:pPr>
            <a:r>
              <a:rPr sz="1275" b="1">
                <a:solidFill>
                  <a:srgbClr val="20313A"/>
                </a:solidFill>
              </a:rPr>
              <a:t>GSE24767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5B0D2C-7C9E-4222-A772-1043743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0101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IL-17/TNF · 3 donors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10bdf64d34938"/>
          <a:stretch xmlns:a="http://schemas.openxmlformats.org/drawingml/2006/main"/>
        </p:blipFill>
        <p:spPr>
          <a:xfrm xmlns:a="http://schemas.openxmlformats.org/drawingml/2006/main">
            <a:off x="12230100" y="5556817"/>
            <a:ext cx="2419350" cy="1468891"/>
          </a:xfrm>
          <a:prstGeom xmlns:a="http://schemas.openxmlformats.org/drawingml/2006/main" prst="roundRect">
            <a:avLst>
              <a:gd name="adj" fmla="val 3587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93F64A-DB14-4A43-9D84-C8D35C1C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67650"/>
            <a:ext cx="1421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0313A"/>
                </a:solidFill>
              </a:defRPr>
            </a:pPr>
            <a:r>
              <a:rPr sz="1500" b="1">
                <a:solidFill>
                  <a:srgbClr val="20313A"/>
                </a:solidFill>
              </a:rPr>
              <a:t>The same disease question is observed at four resolutions; the independent unit remains the patient or donor.</a:t>
            </a:r>
          </a:p>
        </p:txBody>
      </p:sp>
    </p:spTree>
    <p:extLst>
      <p:ext uri="{BB962C8B-B14F-4D97-AF65-F5344CB8AC3E}">
        <p14:creationId xmlns:p14="http://schemas.microsoft.com/office/powerpoint/2010/main" val="1435183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kicker-2">
            <a:extLst xmlns:a="http://schemas.openxmlformats.org/drawingml/2006/main">
              <a:ext uri="{FF2B5EF4-FFF2-40B4-BE49-F238E27FC236}">
                <a16:creationId xmlns:a16="http://schemas.microsoft.com/office/drawing/2014/main" id="{19ABE6E4-1BE9-45F9-AD90-DAEE8314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8776E"/>
                </a:solidFill>
              </a:defRPr>
            </a:pPr>
            <a:r>
              <a:rPr sz="1200" b="1">
                <a:solidFill>
                  <a:srgbClr val="28776E"/>
                </a:solidFill>
              </a:rPr>
              <a:t>OVERALL FRAMEWORK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6C5AB70-1759-46FB-A450-EF1B8616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314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313A"/>
                </a:solidFill>
              </a:defRPr>
            </a:pPr>
            <a:r>
              <a:rPr sz="3150" b="1">
                <a:solidFill>
                  <a:srgbClr val="20313A"/>
                </a:solidFill>
              </a:rPr>
              <a:t>Patient boundaries remain intact from public data to evidence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B0C1F273-9F06-4BA0-86B8-8FF58378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27C"/>
                </a:solidFill>
              </a:defRPr>
            </a:pPr>
            <a:r>
              <a:rPr sz="1350" b="0">
                <a:solidFill>
                  <a:srgbClr val="60727C"/>
                </a:solidFill>
              </a:rPr>
              <a:t>Actual cohort views remain attached to their role throughout construction, comparison and falsification.</a:t>
            </a:r>
          </a:p>
        </p:txBody>
      </p:sp>
      <p:sp>
        <p:nvSpPr>
          <p:cNvPr id="4" name="figure-no-2">
            <a:extLst xmlns:a="http://schemas.openxmlformats.org/drawingml/2006/main">
              <a:ext uri="{FF2B5EF4-FFF2-40B4-BE49-F238E27FC236}">
                <a16:creationId xmlns:a16="http://schemas.microsoft.com/office/drawing/2014/main" id="{5E95190F-FB75-4707-9CEA-BACCA449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04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0727C"/>
                </a:solidFill>
              </a:defRPr>
            </a:pPr>
            <a:r>
              <a:rPr sz="1050" b="1">
                <a:solidFill>
                  <a:srgbClr val="60727C"/>
                </a:solidFill>
              </a:rPr>
              <a:t>FIGURE 2</a:t>
            </a:r>
          </a:p>
        </p:txBody>
      </p:sp>
      <p:sp>
        <p:nvSpPr>
          <p:cNvPr id="5" name="stage-STAGE A">
            <a:extLst xmlns:a="http://schemas.openxmlformats.org/drawingml/2006/main">
              <a:ext uri="{FF2B5EF4-FFF2-40B4-BE49-F238E27FC236}">
                <a16:creationId xmlns:a16="http://schemas.microsoft.com/office/drawing/2014/main" id="{4F9AE778-2D4B-4182-8875-0CC6350C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4000500" cy="63436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2E63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93E20-2324-457E-A07F-F843B8D7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637A"/>
                </a:solidFill>
              </a:defRPr>
            </a:pPr>
            <a:r>
              <a:rPr sz="1200" b="1">
                <a:solidFill>
                  <a:srgbClr val="2E637A"/>
                </a:solidFill>
              </a:rPr>
              <a:t>STAGE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70C5F-FB0F-4495-B737-52C54455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13A"/>
                </a:solidFill>
              </a:defRPr>
            </a:pPr>
            <a:r>
              <a:rPr sz="1800" b="1">
                <a:solidFill>
                  <a:srgbClr val="20313A"/>
                </a:solidFill>
              </a:rPr>
              <a:t>Public evidence</a:t>
            </a:r>
          </a:p>
        </p:txBody>
      </p:sp>
      <p:sp>
        <p:nvSpPr>
          <p:cNvPr id="8" name="stage-STAGE B">
            <a:extLst xmlns:a="http://schemas.openxmlformats.org/drawingml/2006/main">
              <a:ext uri="{FF2B5EF4-FFF2-40B4-BE49-F238E27FC236}">
                <a16:creationId xmlns:a16="http://schemas.microsoft.com/office/drawing/2014/main" id="{AC7E90B1-1D86-4BFA-B2D6-5996B031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71600"/>
            <a:ext cx="2952750" cy="63436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13335">
            <a:solidFill>
              <a:srgbClr val="2877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90FA5-94FF-454B-9D9C-DCECC5FA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66850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8776E"/>
                </a:solidFill>
              </a:defRPr>
            </a:pPr>
            <a:r>
              <a:rPr sz="1200" b="1">
                <a:solidFill>
                  <a:srgbClr val="28776E"/>
                </a:solidFill>
              </a:rPr>
              <a:t>STAGE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91148-178F-49BF-82FC-F7F55200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668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13A"/>
                </a:solidFill>
              </a:defRPr>
            </a:pPr>
            <a:r>
              <a:rPr sz="1800" b="1">
                <a:solidFill>
                  <a:srgbClr val="20313A"/>
                </a:solidFill>
              </a:rPr>
              <a:t>Fold-local build</a:t>
            </a:r>
          </a:p>
        </p:txBody>
      </p:sp>
      <p:sp>
        <p:nvSpPr>
          <p:cNvPr id="11" name="stage-STAGE C">
            <a:extLst xmlns:a="http://schemas.openxmlformats.org/drawingml/2006/main">
              <a:ext uri="{FF2B5EF4-FFF2-40B4-BE49-F238E27FC236}">
                <a16:creationId xmlns:a16="http://schemas.microsoft.com/office/drawing/2014/main" id="{993631F4-EB9E-40F6-9419-8E70357D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71600"/>
            <a:ext cx="3714750" cy="63436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7EFDF"/>
          </a:solidFill>
          <a:ln xmlns:a="http://schemas.openxmlformats.org/drawingml/2006/main" w="13335">
            <a:solidFill>
              <a:srgbClr val="8E67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F2B0D-9314-4EE1-AA97-E8F03523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66850"/>
            <a:ext cx="3409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E672C"/>
                </a:solidFill>
              </a:defRPr>
            </a:pPr>
            <a:r>
              <a:rPr sz="1200" b="1">
                <a:solidFill>
                  <a:srgbClr val="8E672C"/>
                </a:solidFill>
              </a:rPr>
              <a:t>STAGE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4B925-709B-49EC-93AE-66DD6BF0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668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13A"/>
                </a:solidFill>
              </a:defRPr>
            </a:pPr>
            <a:r>
              <a:rPr sz="1800" b="1">
                <a:solidFill>
                  <a:srgbClr val="20313A"/>
                </a:solidFill>
              </a:rPr>
              <a:t>Matched audit</a:t>
            </a:r>
          </a:p>
        </p:txBody>
      </p:sp>
      <p:sp>
        <p:nvSpPr>
          <p:cNvPr id="14" name="stage-STAGE D">
            <a:extLst xmlns:a="http://schemas.openxmlformats.org/drawingml/2006/main">
              <a:ext uri="{FF2B5EF4-FFF2-40B4-BE49-F238E27FC236}">
                <a16:creationId xmlns:a16="http://schemas.microsoft.com/office/drawing/2014/main" id="{EABB09BA-6A3C-4E6D-A4FA-7D068878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371600"/>
            <a:ext cx="2933700" cy="63436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CEDE1"/>
          </a:solidFill>
          <a:ln xmlns:a="http://schemas.openxmlformats.org/drawingml/2006/main" w="13335">
            <a:solidFill>
              <a:srgbClr val="D777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B5157-1228-424A-82FE-33567252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46685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7732"/>
                </a:solidFill>
              </a:defRPr>
            </a:pPr>
            <a:r>
              <a:rPr sz="1200" b="1">
                <a:solidFill>
                  <a:srgbClr val="D77732"/>
                </a:solidFill>
              </a:rPr>
              <a:t>STAGE 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EB257-F8CD-4869-8E13-E8C3FB9A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666875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13A"/>
                </a:solidFill>
              </a:defRPr>
            </a:pPr>
            <a:r>
              <a:rPr sz="1800" b="1">
                <a:solidFill>
                  <a:srgbClr val="20313A"/>
                </a:solidFill>
              </a:rPr>
              <a:t>Falsification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AF8D1-CCCA-4FE3-8F2C-675557AC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313A"/>
                </a:solidFill>
              </a:defRPr>
            </a:pPr>
            <a:r>
              <a:rPr sz="1050" b="1">
                <a:solidFill>
                  <a:srgbClr val="20313A"/>
                </a:solidFill>
              </a:rPr>
              <a:t>GSE117239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BF008-008F-484F-8D91-FB95F3E3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116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bulk</a:t>
            </a:r>
          </a:p>
        </p:txBody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14f9b48984b6e"/>
          <a:stretch xmlns:a="http://schemas.openxmlformats.org/drawingml/2006/main"/>
        </p:blipFill>
        <p:spPr>
          <a:xfrm xmlns:a="http://schemas.openxmlformats.org/drawingml/2006/main">
            <a:off x="571500" y="2633390"/>
            <a:ext cx="1162050" cy="448219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D22C6-251E-4168-AB01-6F0AC95F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14550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313A"/>
                </a:solidFill>
              </a:defRPr>
            </a:pPr>
            <a:r>
              <a:rPr sz="1050" b="1">
                <a:solidFill>
                  <a:srgbClr val="20313A"/>
                </a:solidFill>
              </a:rPr>
              <a:t>GSE136757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39C29-4A79-4698-AFA0-B2AEB15C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95525"/>
            <a:ext cx="116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bulk</a:t>
            </a:r>
          </a:p>
        </p:txBody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6f0435cf2496d"/>
          <a:stretch xmlns:a="http://schemas.openxmlformats.org/drawingml/2006/main"/>
        </p:blipFill>
        <p:spPr>
          <a:xfrm xmlns:a="http://schemas.openxmlformats.org/drawingml/2006/main">
            <a:off x="1790700" y="2633390"/>
            <a:ext cx="1162050" cy="448219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D57B16-535A-4C25-93A6-671E83AC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313A"/>
                </a:solidFill>
              </a:defRPr>
            </a:pPr>
            <a:r>
              <a:rPr sz="1050" b="1">
                <a:solidFill>
                  <a:srgbClr val="20313A"/>
                </a:solidFill>
              </a:rPr>
              <a:t>GSE153007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70527-0B46-45C6-99C4-59B09C85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95525"/>
            <a:ext cx="116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bulk</a:t>
            </a:r>
          </a:p>
        </p:txBody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d83a8cde54aca"/>
          <a:stretch xmlns:a="http://schemas.openxmlformats.org/drawingml/2006/main"/>
        </p:blipFill>
        <p:spPr>
          <a:xfrm xmlns:a="http://schemas.openxmlformats.org/drawingml/2006/main">
            <a:off x="3009900" y="2662442"/>
            <a:ext cx="1162050" cy="390117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777982-5400-4A4C-BFF4-08D2E9EF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313A"/>
                </a:solidFill>
              </a:defRPr>
            </a:pPr>
            <a:r>
              <a:rPr sz="1050" b="1">
                <a:solidFill>
                  <a:srgbClr val="20313A"/>
                </a:solidFill>
              </a:rPr>
              <a:t>GSE182740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B597A6-B6D7-4A88-8D01-7BCF2AE5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116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bulk</a:t>
            </a:r>
          </a:p>
        </p:txBody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7c14b443645b4"/>
          <a:stretch xmlns:a="http://schemas.openxmlformats.org/drawingml/2006/main"/>
        </p:blipFill>
        <p:spPr>
          <a:xfrm xmlns:a="http://schemas.openxmlformats.org/drawingml/2006/main">
            <a:off x="571500" y="3881642"/>
            <a:ext cx="1162050" cy="390117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B7C83C-853A-4EF7-8FF4-E0E6F188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0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313A"/>
                </a:solidFill>
              </a:defRPr>
            </a:pPr>
            <a:r>
              <a:rPr sz="1050" b="1">
                <a:solidFill>
                  <a:srgbClr val="20313A"/>
                </a:solidFill>
              </a:rPr>
              <a:t>GSE51440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085EA6-F71E-4A8C-8DCF-816BE5B1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14725"/>
            <a:ext cx="116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bulk</a:t>
            </a:r>
          </a:p>
        </p:txBody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c087ecab34986"/>
          <a:stretch xmlns:a="http://schemas.openxmlformats.org/drawingml/2006/main"/>
        </p:blipFill>
        <p:spPr>
          <a:xfrm xmlns:a="http://schemas.openxmlformats.org/drawingml/2006/main">
            <a:off x="1790700" y="3881642"/>
            <a:ext cx="1162050" cy="390117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B2CB7E-BD7B-4F07-A1BC-B57367B1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313A"/>
                </a:solidFill>
              </a:defRPr>
            </a:pPr>
            <a:r>
              <a:rPr sz="1050" b="1">
                <a:solidFill>
                  <a:srgbClr val="20313A"/>
                </a:solidFill>
              </a:rPr>
              <a:t>GSE57225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F55154-E607-49A6-ABCE-1EF32790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14725"/>
            <a:ext cx="116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bulk</a:t>
            </a:r>
          </a:p>
        </p:txBody>
      </p:sp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0e5d127cc48ab"/>
          <a:stretch xmlns:a="http://schemas.openxmlformats.org/drawingml/2006/main"/>
        </p:blipFill>
        <p:spPr>
          <a:xfrm xmlns:a="http://schemas.openxmlformats.org/drawingml/2006/main">
            <a:off x="3009900" y="3881642"/>
            <a:ext cx="1162050" cy="390117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A89FCA-36FD-4062-8468-9E93E046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313A"/>
                </a:solidFill>
              </a:defRPr>
            </a:pPr>
            <a:r>
              <a:rPr sz="1050" b="1">
                <a:solidFill>
                  <a:srgbClr val="20313A"/>
                </a:solidFill>
              </a:rPr>
              <a:t>GSE85034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76E374-3E6E-4A15-973D-E18ED909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116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bulk</a:t>
            </a:r>
          </a:p>
        </p:txBody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2e3178f6240cf"/>
          <a:stretch xmlns:a="http://schemas.openxmlformats.org/drawingml/2006/main"/>
        </p:blipFill>
        <p:spPr>
          <a:xfrm xmlns:a="http://schemas.openxmlformats.org/drawingml/2006/main">
            <a:off x="571500" y="5080091"/>
            <a:ext cx="1162050" cy="431619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028184-96A6-4296-97E3-443D1C3E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52950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313A"/>
                </a:solidFill>
              </a:defRPr>
            </a:pPr>
            <a:r>
              <a:rPr sz="1050" b="1">
                <a:solidFill>
                  <a:srgbClr val="20313A"/>
                </a:solidFill>
              </a:rPr>
              <a:t>GSE151177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5206C0-EDC5-4735-A344-7D688356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33925"/>
            <a:ext cx="116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scRNA</a:t>
            </a:r>
          </a:p>
        </p:txBody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c631fdd1f4686"/>
          <a:stretch xmlns:a="http://schemas.openxmlformats.org/drawingml/2006/main"/>
        </p:blipFill>
        <p:spPr>
          <a:xfrm xmlns:a="http://schemas.openxmlformats.org/drawingml/2006/main">
            <a:off x="1927225" y="4895850"/>
            <a:ext cx="889000" cy="8001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31D037-0BF6-46C2-AF7C-A67A1670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52950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313A"/>
                </a:solidFill>
              </a:defRPr>
            </a:pPr>
            <a:r>
              <a:rPr sz="1050" b="1">
                <a:solidFill>
                  <a:srgbClr val="20313A"/>
                </a:solidFill>
              </a:rPr>
              <a:t>GSE173706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CC81BC-C56C-4E50-B9C9-43BD70A4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33925"/>
            <a:ext cx="116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scRNA</a:t>
            </a:r>
          </a:p>
        </p:txBody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cca268bc74c97"/>
          <a:stretch xmlns:a="http://schemas.openxmlformats.org/drawingml/2006/main"/>
        </p:blipFill>
        <p:spPr>
          <a:xfrm xmlns:a="http://schemas.openxmlformats.org/drawingml/2006/main">
            <a:off x="3146425" y="4895850"/>
            <a:ext cx="889000" cy="8001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072E5C-AB25-4F50-A0CA-587F5B77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313A"/>
                </a:solidFill>
              </a:defRPr>
            </a:pPr>
            <a:r>
              <a:rPr sz="1050" b="1">
                <a:solidFill>
                  <a:srgbClr val="20313A"/>
                </a:solidFill>
              </a:rPr>
              <a:t>GSE206391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4DE718-5167-42AD-B47A-303425A3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6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spatial</a:t>
            </a:r>
          </a:p>
        </p:txBody>
      </p:sp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4e891815f4048"/>
          <a:stretch xmlns:a="http://schemas.openxmlformats.org/drawingml/2006/main"/>
        </p:blipFill>
        <p:spPr>
          <a:xfrm xmlns:a="http://schemas.openxmlformats.org/drawingml/2006/main">
            <a:off x="571500" y="6282690"/>
            <a:ext cx="1162050" cy="46482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18A59E-B2E4-4C0E-8CB8-70BAC288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72150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313A"/>
                </a:solidFill>
              </a:defRPr>
            </a:pPr>
            <a:r>
              <a:rPr sz="1050" b="1">
                <a:solidFill>
                  <a:srgbClr val="20313A"/>
                </a:solidFill>
              </a:rPr>
              <a:t>GSE24767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B9DE15-3776-4479-B3E3-53968221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53125"/>
            <a:ext cx="116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0727C"/>
                </a:solidFill>
              </a:defRPr>
            </a:pPr>
            <a:r>
              <a:rPr sz="900" b="0">
                <a:solidFill>
                  <a:srgbClr val="60727C"/>
                </a:solidFill>
              </a:rPr>
              <a:t>trigger</a:t>
            </a:r>
          </a:p>
        </p:txBody>
      </p:sp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0911d4fad4016"/>
          <a:stretch xmlns:a="http://schemas.openxmlformats.org/drawingml/2006/main"/>
        </p:blipFill>
        <p:spPr>
          <a:xfrm xmlns:a="http://schemas.openxmlformats.org/drawingml/2006/main">
            <a:off x="1790700" y="6162335"/>
            <a:ext cx="1162050" cy="70553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B51CFA-FCB2-4530-B663-682DEA1D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37A"/>
                </a:solidFill>
              </a:defRPr>
            </a:pPr>
            <a:r>
              <a:rPr sz="1275" b="1">
                <a:solidFill>
                  <a:srgbClr val="2E637A"/>
                </a:solidFill>
              </a:rPr>
              <a:t>Fixed roles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B1451A-97C9-4BFA-AFDF-673BD93F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0961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ceiling · development · external transfer · spatial validation · frozen trigger prior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BA2189-3362-4248-A3AF-D75EEE40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249555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9A9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3F1BBF-1F01-4BFA-88A4-B5AE40C3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003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776E"/>
                </a:solidFill>
              </a:defRPr>
            </a:pPr>
            <a:r>
              <a:rPr sz="1350" b="1">
                <a:solidFill>
                  <a:srgbClr val="28776E"/>
                </a:solidFill>
              </a:rPr>
              <a:t>M1 · UNIT GUARD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E73067-18F9-4630-9531-B9C98B98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patient / donor = outer fold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no cell- or spot-level split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638DD6-D7E0-4DF4-A36C-30E5329F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62350"/>
            <a:ext cx="24955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9A9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20BDC0-5A5E-42B2-A7DA-5DA83A3A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147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776E"/>
                </a:solidFill>
              </a:defRPr>
            </a:pPr>
            <a:r>
              <a:rPr sz="1275" b="1">
                <a:solidFill>
                  <a:srgbClr val="28776E"/>
                </a:solidFill>
              </a:rPr>
              <a:t>M2 · FOLD-LOCAL BUILDER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B750EA9-6DBA-40C7-8093-8648286A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481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HVGs · scaling · PCA/NMF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KMeans · graph · OT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fit on training units only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4E4C1F-B63B-4376-A473-788EC887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67300"/>
            <a:ext cx="2495550" cy="230505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9A9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37442C-E1C8-4FAA-BD16-92C18FB6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006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776E"/>
                </a:solidFill>
              </a:defRPr>
            </a:pPr>
            <a:r>
              <a:rPr sz="1275" b="1">
                <a:solidFill>
                  <a:srgbClr val="28776E"/>
                </a:solidFill>
              </a:rPr>
              <a:t>M3 · RESOLUTION ENCODERS</a:t>
            </a:r>
          </a:p>
        </p:txBody>
      </p:sp>
      <p:pic>
        <p:nvPicPr>
          <p:cNvPr id="2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bb448f06a40e0"/>
          <a:stretch xmlns:a="http://schemas.openxmlformats.org/drawingml/2006/main"/>
        </p:blipFill>
        <p:spPr>
          <a:xfrm xmlns:a="http://schemas.openxmlformats.org/drawingml/2006/main">
            <a:off x="5048250" y="5633085"/>
            <a:ext cx="1028700" cy="925830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a45e9fb584968"/>
          <a:stretch xmlns:a="http://schemas.openxmlformats.org/drawingml/2006/main"/>
        </p:blipFill>
        <p:spPr>
          <a:xfrm xmlns:a="http://schemas.openxmlformats.org/drawingml/2006/main">
            <a:off x="6229350" y="5890260"/>
            <a:ext cx="1028700" cy="411480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1B96DBF-EE36-46AC-AF4B-FDF50490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7627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0313A"/>
                </a:solidFill>
              </a:defRPr>
            </a:pPr>
            <a:r>
              <a:rPr sz="1050" b="0">
                <a:solidFill>
                  <a:srgbClr val="20313A"/>
                </a:solidFill>
              </a:rPr>
              <a:t>expression · low-rank · neighborhoods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0313A"/>
                </a:solidFill>
              </a:defRPr>
            </a:pPr>
            <a:r>
              <a:rPr sz="1050" b="0">
                <a:solidFill>
                  <a:srgbClr val="20313A"/>
                </a:solidFill>
              </a:rPr>
              <a:t>spatial graph · trigger OT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040A62-12A1-4233-876F-65CA5C23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47900"/>
            <a:ext cx="325755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49A5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87175B-B36B-425C-97F8-DCE2813A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E672C"/>
                </a:solidFill>
              </a:defRPr>
            </a:pPr>
            <a:r>
              <a:rPr sz="1350" b="1">
                <a:solidFill>
                  <a:srgbClr val="8E672C"/>
                </a:solidFill>
              </a:rPr>
              <a:t>M4 · MATCHED COMPARATOR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867C7B-87FA-4A98-9F86-3EA26582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candidate representation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versus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matched expression view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A4F65E-A618-484A-90BC-FA911744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0313A"/>
                </a:solidFill>
              </a:defRPr>
            </a:pPr>
            <a:r>
              <a:rPr sz="1275" b="1">
                <a:solidFill>
                  <a:srgbClr val="20313A"/>
                </a:solidFill>
              </a:rPr>
              <a:t>ΔAUROC = AUROC(candidate) − AUROC(expression)</a:t>
            </a:r>
          </a:p>
        </p:txBody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c9d9738594e0f"/>
          <a:stretch xmlns:a="http://schemas.openxmlformats.org/drawingml/2006/main"/>
        </p:blipFill>
        <p:spPr>
          <a:xfrm xmlns:a="http://schemas.openxmlformats.org/drawingml/2006/main">
            <a:off x="8229600" y="4305470"/>
            <a:ext cx="1428750" cy="135221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pic>
        <p:nvPicPr>
          <p:cNvPr id="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ec4da3aed4229"/>
          <a:stretch xmlns:a="http://schemas.openxmlformats.org/drawingml/2006/main"/>
        </p:blipFill>
        <p:spPr>
          <a:xfrm xmlns:a="http://schemas.openxmlformats.org/drawingml/2006/main">
            <a:off x="9867900" y="42672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9181D6-FE74-4865-9725-E49AD965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905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77732"/>
                </a:solidFill>
              </a:defRPr>
            </a:pPr>
            <a:r>
              <a:rPr sz="1125" b="1">
                <a:solidFill>
                  <a:srgbClr val="D77732"/>
                </a:solidFill>
              </a:rPr>
              <a:t>optimism gap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0B762B8-2A3D-4881-A561-2C70051A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905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77732"/>
                </a:solidFill>
              </a:defRPr>
            </a:pPr>
            <a:r>
              <a:rPr sz="1125" b="1">
                <a:solidFill>
                  <a:srgbClr val="D77732"/>
                </a:solidFill>
              </a:rPr>
              <a:t>external calibration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1DB553C-41C3-4150-81F4-ECA11EBB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324600"/>
            <a:ext cx="30670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49A5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4E7E4EA-6B7F-4A78-B0B8-3BEA3973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86525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8E672C"/>
                </a:solidFill>
              </a:defRPr>
            </a:pPr>
            <a:r>
              <a:rPr sz="1275" b="1">
                <a:solidFill>
                  <a:srgbClr val="8E672C"/>
                </a:solidFill>
              </a:rPr>
              <a:t>Patient/donor bootstrap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62C437-A694-4887-AA13-8B37524A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8294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95% CI and practical-value gate: Δ ≥ 0.05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B58BF4-66C5-4710-B625-C3F49987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247900"/>
            <a:ext cx="2514600" cy="15621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773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5CE553-2590-42C1-A20A-08F07140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400300"/>
            <a:ext cx="2171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77732"/>
                </a:solidFill>
              </a:defRPr>
            </a:pPr>
            <a:r>
              <a:rPr sz="1350" b="1">
                <a:solidFill>
                  <a:srgbClr val="D77732"/>
                </a:solidFill>
              </a:rPr>
              <a:t>M5 · NULL ENGINES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B954E8E-A24E-45C1-BC0C-F63B05CA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762250"/>
            <a:ext cx="1981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cell shuffle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external labels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spatial labels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coordinates</a:t>
            </a:r>
          </a:p>
        </p:txBody>
      </p:sp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83629f324432b"/>
          <a:stretch xmlns:a="http://schemas.openxmlformats.org/drawingml/2006/main"/>
        </p:blipFill>
        <p:spPr>
          <a:xfrm xmlns:a="http://schemas.openxmlformats.org/drawingml/2006/main">
            <a:off x="12399385" y="4057650"/>
            <a:ext cx="190933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1F56D8A-9AA4-41CB-B42C-23285BB9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324600"/>
            <a:ext cx="251460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9575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05B525B-FB2A-4837-9ECE-6036167C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77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95757"/>
                </a:solidFill>
              </a:defRPr>
            </a:pPr>
            <a:r>
              <a:rPr sz="1350" b="1">
                <a:solidFill>
                  <a:srgbClr val="B95757"/>
                </a:solidFill>
              </a:rPr>
              <a:t>M6 · CLAIM GATE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11B7918-50D7-4F6C-8744-E06EA642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800850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supported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bounded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refuted</a:t>
            </a:r>
          </a:p>
        </p:txBody>
      </p:sp>
      <p:cxnSp>
        <p:nvCxnSpPr>
          <p:cNvPr id="26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19600" y="45434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0727C"/>
            </a:solidFill>
            <a:prstDash val="solid"/>
            <a:tailEnd type="triangle" w="med" len="med"/>
          </a:ln>
        </p:spPr>
      </p:cxnSp>
      <p:cxnSp>
        <p:nvCxnSpPr>
          <p:cNvPr id="26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39050" y="45434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0727C"/>
            </a:solidFill>
            <a:prstDash val="solid"/>
            <a:tailEnd type="triangle" w="med" len="med"/>
          </a:ln>
        </p:spPr>
      </p:cxnSp>
      <p:cxnSp>
        <p:nvCxnSpPr>
          <p:cNvPr id="26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1620500" y="45434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0727C"/>
            </a:solidFill>
            <a:prstDash val="solid"/>
            <a:tailEnd type="triangle" w="med" len="me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2076A5E-7996-49F0-ADB4-CE3B164C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981950"/>
            <a:ext cx="1314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0313A"/>
                </a:solidFill>
              </a:defRPr>
            </a:pPr>
            <a:r>
              <a:rPr sz="1575" b="1">
                <a:solidFill>
                  <a:srgbClr val="20313A"/>
                </a:solidFill>
              </a:rPr>
              <a:t>Primary conclusion: reproducible disease-state signal; no demonstrated resolution-specific incremental value.</a:t>
            </a:r>
          </a:p>
        </p:txBody>
      </p:sp>
    </p:spTree>
    <p:extLst>
      <p:ext uri="{BB962C8B-B14F-4D97-AF65-F5344CB8AC3E}">
        <p14:creationId xmlns:p14="http://schemas.microsoft.com/office/powerpoint/2010/main" val="610481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kicker-3">
            <a:extLst xmlns:a="http://schemas.openxmlformats.org/drawingml/2006/main">
              <a:ext uri="{FF2B5EF4-FFF2-40B4-BE49-F238E27FC236}">
                <a16:creationId xmlns:a16="http://schemas.microsoft.com/office/drawing/2014/main" id="{9AEDE36A-677B-42ED-BBF7-0DA74639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8776E"/>
                </a:solidFill>
              </a:defRPr>
            </a:pPr>
            <a:r>
              <a:rPr sz="1200" b="1">
                <a:solidFill>
                  <a:srgbClr val="28776E"/>
                </a:solidFill>
              </a:rPr>
              <a:t>ALGORITHM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184F6D6-5674-46EB-8A97-5CBCE106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314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313A"/>
                </a:solidFill>
              </a:defRPr>
            </a:pPr>
            <a:r>
              <a:rPr sz="3150" b="1">
                <a:solidFill>
                  <a:srgbClr val="20313A"/>
                </a:solidFill>
              </a:rPr>
              <a:t>PRI-Audit pairs each representation with matched expression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9F26DE39-F9DE-42D9-850F-191EF4A0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27C"/>
                </a:solidFill>
              </a:defRPr>
            </a:pPr>
            <a:r>
              <a:rPr sz="1350" b="0">
                <a:solidFill>
                  <a:srgbClr val="60727C"/>
                </a:solidFill>
              </a:rPr>
              <a:t>The outer unit is locked before any representation is fitted; held-out patients never enter the builder.</a:t>
            </a:r>
          </a:p>
        </p:txBody>
      </p:sp>
      <p:sp>
        <p:nvSpPr>
          <p:cNvPr id="4" name="figure-no-3">
            <a:extLst xmlns:a="http://schemas.openxmlformats.org/drawingml/2006/main">
              <a:ext uri="{FF2B5EF4-FFF2-40B4-BE49-F238E27FC236}">
                <a16:creationId xmlns:a16="http://schemas.microsoft.com/office/drawing/2014/main" id="{C98BC7C3-B2AD-4263-9EBA-34671CEE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04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0727C"/>
                </a:solidFill>
              </a:defRPr>
            </a:pPr>
            <a:r>
              <a:rPr sz="1050" b="1">
                <a:solidFill>
                  <a:srgbClr val="60727C"/>
                </a:solidFill>
              </a:rPr>
              <a:t>FIGURE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E28DC-45F1-4843-97B3-0EC35E6C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417320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1F4F4"/>
          </a:solidFill>
          <a:ln xmlns:a="http://schemas.openxmlformats.org/drawingml/2006/main" w="13335">
            <a:solidFill>
              <a:srgbClr val="C9D5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EA65E-CB89-4705-81DE-2AB539FC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313A"/>
                </a:solidFill>
              </a:defRPr>
            </a:pPr>
            <a:r>
              <a:rPr sz="1350" b="1">
                <a:solidFill>
                  <a:srgbClr val="20313A"/>
                </a:solidFill>
              </a:rPr>
              <a:t>INDEPENDENT 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A6FF5-1059-44F7-8472-E70EC927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668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27C"/>
                </a:solidFill>
              </a:defRPr>
            </a:pPr>
            <a:r>
              <a:rPr sz="1275" b="0">
                <a:solidFill>
                  <a:srgbClr val="60727C"/>
                </a:solidFill>
              </a:rPr>
              <a:t>paired patient for LS/NL · donor for cell-state transfer · paired patient for spatial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EC249-4FE7-436E-A870-7C55C386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4763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B95757"/>
                </a:solidFill>
              </a:defRPr>
            </a:pPr>
            <a:r>
              <a:rPr sz="1200" b="1">
                <a:solidFill>
                  <a:srgbClr val="B95757"/>
                </a:solidFill>
              </a:rPr>
              <a:t>held-out unit bypasses all fitting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A9403-CF31-4F2E-87C7-DBA512CC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143250" cy="5715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5E8EA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57DEA-6CC3-4C03-A62E-295165C5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E637A"/>
                </a:solidFill>
              </a:defRPr>
            </a:pPr>
            <a:r>
              <a:rPr sz="1650" b="1">
                <a:solidFill>
                  <a:srgbClr val="2E637A"/>
                </a:solidFill>
              </a:rPr>
              <a:t>DATA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DA8A6-9737-4CEB-BBEE-540055E2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313A"/>
                </a:solidFill>
              </a:defRPr>
            </a:pPr>
            <a:r>
              <a:rPr sz="1200" b="1">
                <a:solidFill>
                  <a:srgbClr val="20313A"/>
                </a:solidFill>
              </a:rPr>
              <a:t>Bulk LS/NL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5A961-17C9-4349-826D-BCB9DB9E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7C"/>
                </a:solidFill>
              </a:defRPr>
            </a:pPr>
            <a:r>
              <a:rPr sz="975" b="0">
                <a:solidFill>
                  <a:srgbClr val="60727C"/>
                </a:solidFill>
              </a:rPr>
              <a:t>GSE117239 + six cohorts</a:t>
            </a:r>
          </a:p>
        </p:txBody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cb0af35b5404e"/>
          <a:stretch xmlns:a="http://schemas.openxmlformats.org/drawingml/2006/main"/>
        </p:blipFill>
        <p:spPr>
          <a:xfrm xmlns:a="http://schemas.openxmlformats.org/drawingml/2006/main">
            <a:off x="1809750" y="2855187"/>
            <a:ext cx="1543050" cy="595176"/>
          </a:xfrm>
          <a:prstGeom xmlns:a="http://schemas.openxmlformats.org/drawingml/2006/main" prst="roundRect">
            <a:avLst>
              <a:gd name="adj" fmla="val 784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861F7-67F5-42D8-BECA-1371B212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313A"/>
                </a:solidFill>
              </a:defRPr>
            </a:pPr>
            <a:r>
              <a:rPr sz="1200" b="1">
                <a:solidFill>
                  <a:srgbClr val="20313A"/>
                </a:solidFill>
              </a:rPr>
              <a:t>Single-cell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33DEC-11C1-4952-8A34-D3F75310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7C"/>
                </a:solidFill>
              </a:defRPr>
            </a:pPr>
            <a:r>
              <a:rPr sz="975" b="0">
                <a:solidFill>
                  <a:srgbClr val="60727C"/>
                </a:solidFill>
              </a:rPr>
              <a:t>GSE151177 → GSE173706</a:t>
            </a:r>
          </a:p>
        </p:txBody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d5dd7db8e431c"/>
          <a:stretch xmlns:a="http://schemas.openxmlformats.org/drawingml/2006/main"/>
        </p:blipFill>
        <p:spPr>
          <a:xfrm xmlns:a="http://schemas.openxmlformats.org/drawingml/2006/main">
            <a:off x="2041525" y="3867150"/>
            <a:ext cx="1079500" cy="971550"/>
          </a:xfrm>
          <a:prstGeom xmlns:a="http://schemas.openxmlformats.org/drawingml/2006/main" prst="roundRect">
            <a:avLst>
              <a:gd name="adj" fmla="val 784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B8019-2A99-4CE1-BD31-D2BAA330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313A"/>
                </a:solidFill>
              </a:defRPr>
            </a:pPr>
            <a:r>
              <a:rPr sz="1200" b="1">
                <a:solidFill>
                  <a:srgbClr val="20313A"/>
                </a:solidFill>
              </a:rPr>
              <a:t>Spatial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28C97-6D3C-4B99-B959-56D0EF4C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7C"/>
                </a:solidFill>
              </a:defRPr>
            </a:pPr>
            <a:r>
              <a:rPr sz="975" b="0">
                <a:solidFill>
                  <a:srgbClr val="60727C"/>
                </a:solidFill>
              </a:rPr>
              <a:t>GSE206391 · LS/NL</a:t>
            </a:r>
          </a:p>
        </p:txBody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e7a9cdd1346e4"/>
          <a:stretch xmlns:a="http://schemas.openxmlformats.org/drawingml/2006/main"/>
        </p:blipFill>
        <p:spPr>
          <a:xfrm xmlns:a="http://schemas.openxmlformats.org/drawingml/2006/main">
            <a:off x="1809750" y="5244465"/>
            <a:ext cx="1543050" cy="617220"/>
          </a:xfrm>
          <a:prstGeom xmlns:a="http://schemas.openxmlformats.org/drawingml/2006/main" prst="roundRect">
            <a:avLst>
              <a:gd name="adj" fmla="val 7843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72BAB-4F85-4B83-9A0A-BF77B01A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313A"/>
                </a:solidFill>
              </a:defRPr>
            </a:pPr>
            <a:r>
              <a:rPr sz="1200" b="1">
                <a:solidFill>
                  <a:srgbClr val="20313A"/>
                </a:solidFill>
              </a:rPr>
              <a:t>Trigger prior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1AAE8-D8E7-4FB5-B67B-2C667CE0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055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27C"/>
                </a:solidFill>
              </a:defRPr>
            </a:pPr>
            <a:r>
              <a:rPr sz="975" b="0">
                <a:solidFill>
                  <a:srgbClr val="60727C"/>
                </a:solidFill>
              </a:rPr>
              <a:t>GSE24767 · IL-17/TNF</a:t>
            </a:r>
          </a:p>
        </p:txBody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c7bcbac474ce8"/>
          <a:stretch xmlns:a="http://schemas.openxmlformats.org/drawingml/2006/main"/>
        </p:blipFill>
        <p:spPr>
          <a:xfrm xmlns:a="http://schemas.openxmlformats.org/drawingml/2006/main">
            <a:off x="1809750" y="6284799"/>
            <a:ext cx="1543050" cy="936852"/>
          </a:xfrm>
          <a:prstGeom xmlns:a="http://schemas.openxmlformats.org/drawingml/2006/main" prst="roundRect">
            <a:avLst>
              <a:gd name="adj" fmla="val 784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DFC43-35CC-4A14-AC5A-66DD0FE3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18097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9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80953-B431-4904-82C4-4A727933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527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8776E"/>
                </a:solidFill>
              </a:defRPr>
            </a:pPr>
            <a:r>
              <a:rPr sz="1425" b="1">
                <a:solidFill>
                  <a:srgbClr val="28776E"/>
                </a:solidFill>
              </a:rPr>
              <a:t>M1 · Unit Guard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13308-E4CE-4F3F-B886-774E0A68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527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group registry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outer folds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bootstrap unit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C21B3-5534-4180-AEE4-E5B8FB92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05250"/>
            <a:ext cx="180975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9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AE54A7-1F96-4DB0-B377-DCC770C6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776E"/>
                </a:solidFill>
              </a:defRPr>
            </a:pPr>
            <a:r>
              <a:rPr sz="1275" b="1">
                <a:solidFill>
                  <a:srgbClr val="28776E"/>
                </a:solidFill>
              </a:rPr>
              <a:t>M2 · Fold builder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4B928-C0A9-47A8-8597-4AFFCEB8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5770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select HVGs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scale / reduce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cluster / graph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fit on training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ABD8B0-0A22-4AF6-BF46-ACB2A214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095750" cy="5715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13335">
            <a:solidFill>
              <a:srgbClr val="4F9A9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4E040F-418D-4A28-999D-04488641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3676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8776E"/>
                </a:solidFill>
              </a:defRPr>
            </a:pPr>
            <a:r>
              <a:rPr sz="1650" b="1">
                <a:solidFill>
                  <a:srgbClr val="28776E"/>
                </a:solidFill>
              </a:rPr>
              <a:t>M3 · ENCODER LIBRARY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A141EF-001A-408F-832D-C668202E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36766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E8EA2"/>
            </a:solidFill>
            <a:prstDash val="solid"/>
          </a:ln>
        </p:spPr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a10889ecb42c8"/>
          <a:srcRect xmlns:a="http://schemas.openxmlformats.org/drawingml/2006/main" l="19610" t="0" r="196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809875"/>
            <a:ext cx="990600" cy="628650"/>
          </a:xfrm>
          <a:prstGeom xmlns:a="http://schemas.openxmlformats.org/drawingml/2006/main" prst="roundRect">
            <a:avLst>
              <a:gd name="adj" fmla="val 10606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2467AF-1099-4EF8-8A39-1AB79579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38450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313A"/>
                </a:solidFill>
              </a:defRPr>
            </a:pPr>
            <a:r>
              <a:rPr sz="1350" b="1">
                <a:solidFill>
                  <a:srgbClr val="20313A"/>
                </a:solidFill>
              </a:rPr>
              <a:t>Expression ranks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523B0B-2641-4D34-87A3-AA58E08C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337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7C"/>
                </a:solidFill>
              </a:defRPr>
            </a:pPr>
            <a:r>
              <a:rPr sz="1125" b="0">
                <a:solidFill>
                  <a:srgbClr val="60727C"/>
                </a:solidFill>
              </a:rPr>
              <a:t>matched baseline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3E7599-3134-43CE-B575-B64B4777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36766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E8EA2"/>
            </a:solidFill>
            <a:prstDash val="solid"/>
          </a:ln>
        </p:spPr>
      </p:sp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5bdad9cbb4d1c"/>
          <a:srcRect xmlns:a="http://schemas.openxmlformats.org/drawingml/2006/main" l="0" t="14744" r="0" b="14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3762375"/>
            <a:ext cx="990600" cy="628650"/>
          </a:xfrm>
          <a:prstGeom xmlns:a="http://schemas.openxmlformats.org/drawingml/2006/main" prst="roundRect">
            <a:avLst>
              <a:gd name="adj" fmla="val 10606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FC9822-0EB6-4143-AD19-D6D879A1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90950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313A"/>
                </a:solidFill>
              </a:defRPr>
            </a:pPr>
            <a:r>
              <a:rPr sz="1350" b="1">
                <a:solidFill>
                  <a:srgbClr val="20313A"/>
                </a:solidFill>
              </a:rPr>
              <a:t>Low-rank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3FFAA6-1816-4F21-AD20-20614AAE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862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7C"/>
                </a:solidFill>
              </a:defRPr>
            </a:pPr>
            <a:r>
              <a:rPr sz="1125" b="0">
                <a:solidFill>
                  <a:srgbClr val="60727C"/>
                </a:solidFill>
              </a:rPr>
              <a:t>PCA / NMF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023E61-9FDC-4C0D-9F5F-C67E534A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36766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7732"/>
            </a:solidFill>
            <a:prstDash val="solid"/>
          </a:ln>
        </p:spPr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4e56d153c4fde"/>
          <a:srcRect xmlns:a="http://schemas.openxmlformats.org/drawingml/2006/main" l="0" t="14744" r="0" b="14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4714875"/>
            <a:ext cx="990600" cy="628650"/>
          </a:xfrm>
          <a:prstGeom xmlns:a="http://schemas.openxmlformats.org/drawingml/2006/main" prst="roundRect">
            <a:avLst>
              <a:gd name="adj" fmla="val 10606"/>
            </a:avLst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8CA415-2B8E-44DD-85F8-4CD956BE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43450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313A"/>
                </a:solidFill>
              </a:defRPr>
            </a:pPr>
            <a:r>
              <a:rPr sz="1350" b="1">
                <a:solidFill>
                  <a:srgbClr val="20313A"/>
                </a:solidFill>
              </a:rPr>
              <a:t>Cell neighborhoods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6F8C26-A066-448E-BEED-EAC86921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387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7C"/>
                </a:solidFill>
              </a:defRPr>
            </a:pPr>
            <a:r>
              <a:rPr sz="1125" b="0">
                <a:solidFill>
                  <a:srgbClr val="60727C"/>
                </a:solidFill>
              </a:rPr>
              <a:t>frozen source map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AB768A-9166-429C-A879-52799149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81650"/>
            <a:ext cx="36766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17C9E"/>
            </a:solidFill>
            <a:prstDash val="solid"/>
          </a:ln>
        </p:spPr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e9860fdad4e4e"/>
          <a:srcRect xmlns:a="http://schemas.openxmlformats.org/drawingml/2006/main" l="18485" t="0" r="18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5667375"/>
            <a:ext cx="990600" cy="628650"/>
          </a:xfrm>
          <a:prstGeom xmlns:a="http://schemas.openxmlformats.org/drawingml/2006/main" prst="roundRect">
            <a:avLst>
              <a:gd name="adj" fmla="val 10606"/>
            </a:avLst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085F01-FF66-4C4D-877F-5D008174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695950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313A"/>
                </a:solidFill>
              </a:defRPr>
            </a:pPr>
            <a:r>
              <a:rPr sz="1350" b="1">
                <a:solidFill>
                  <a:srgbClr val="20313A"/>
                </a:solidFill>
              </a:rPr>
              <a:t>Spatial graph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695E0A-D9B4-48A6-B58D-74500E6A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9912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7C"/>
                </a:solidFill>
              </a:defRPr>
            </a:pPr>
            <a:r>
              <a:rPr sz="1125" b="0">
                <a:solidFill>
                  <a:srgbClr val="60727C"/>
                </a:solidFill>
              </a:rPr>
              <a:t>6-NN local statistics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D1186D-3B66-48F9-A6D0-B459FFE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534150"/>
            <a:ext cx="36766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49A55"/>
            </a:solidFill>
            <a:prstDash val="solid"/>
          </a:ln>
        </p:spPr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3a52299724e07"/>
          <a:srcRect xmlns:a="http://schemas.openxmlformats.org/drawingml/2006/main" l="2165" t="0" r="2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6619875"/>
            <a:ext cx="990600" cy="628650"/>
          </a:xfrm>
          <a:prstGeom xmlns:a="http://schemas.openxmlformats.org/drawingml/2006/main" prst="roundRect">
            <a:avLst>
              <a:gd name="adj" fmla="val 10606"/>
            </a:avLst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D22A1D-149E-4873-B527-6C1DC699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48450"/>
            <a:ext cx="2266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313A"/>
                </a:solidFill>
              </a:defRPr>
            </a:pPr>
            <a:r>
              <a:rPr sz="1350" b="1">
                <a:solidFill>
                  <a:srgbClr val="20313A"/>
                </a:solidFill>
              </a:rPr>
              <a:t>Trigger OT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CDE647-D852-4491-8C5D-5B6BB863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9437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7C"/>
                </a:solidFill>
              </a:defRPr>
            </a:pPr>
            <a:r>
              <a:rPr sz="1125" b="0">
                <a:solidFill>
                  <a:srgbClr val="60727C"/>
                </a:solidFill>
              </a:rPr>
              <a:t>IL-17/TNF prior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92CAB1-2848-4C6A-9B6F-F350005B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19350"/>
            <a:ext cx="2076450" cy="217170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7EFDF"/>
          </a:solidFill>
          <a:ln xmlns:a="http://schemas.openxmlformats.org/drawingml/2006/main" w="13335">
            <a:solidFill>
              <a:srgbClr val="C49A5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82239E-2406-4246-A83C-D861697E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5717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8E672C"/>
                </a:solidFill>
              </a:defRPr>
            </a:pPr>
            <a:r>
              <a:rPr sz="1575" b="1">
                <a:solidFill>
                  <a:srgbClr val="8E672C"/>
                </a:solidFill>
              </a:rPr>
              <a:t>M4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0E4BEB-21C0-4259-8C94-41A1F086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33700"/>
            <a:ext cx="173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0313A"/>
                </a:solidFill>
              </a:defRPr>
            </a:pPr>
            <a:r>
              <a:rPr sz="1500" b="1">
                <a:solidFill>
                  <a:srgbClr val="20313A"/>
                </a:solidFill>
              </a:rPr>
              <a:t>Matched comparator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2674E4-869E-46E6-B34D-2ED970EC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290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same outer split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same feature budget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same classifier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111ECD-0989-4129-A0EC-C42DF7FE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386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8E672C"/>
                </a:solidFill>
              </a:defRPr>
            </a:pPr>
            <a:r>
              <a:rPr sz="1425" b="1">
                <a:solidFill>
                  <a:srgbClr val="8E672C"/>
                </a:solidFill>
              </a:rPr>
              <a:t>ΔAUROC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3A6391-6B21-44B9-AB3E-BB0530F0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33950"/>
            <a:ext cx="2076450" cy="25717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CEDE1"/>
          </a:solidFill>
          <a:ln xmlns:a="http://schemas.openxmlformats.org/drawingml/2006/main" w="13335">
            <a:solidFill>
              <a:srgbClr val="D7773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FAB7DD-1BB2-454C-938D-94B5071C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863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77732"/>
                </a:solidFill>
              </a:defRPr>
            </a:pPr>
            <a:r>
              <a:rPr sz="1575" b="1">
                <a:solidFill>
                  <a:srgbClr val="D77732"/>
                </a:solidFill>
              </a:rPr>
              <a:t>M5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5B5635-DCA7-4231-95C5-AD7AA8A2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48300"/>
            <a:ext cx="173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0313A"/>
                </a:solidFill>
              </a:defRPr>
            </a:pPr>
            <a:r>
              <a:rPr sz="1500" b="1">
                <a:solidFill>
                  <a:srgbClr val="20313A"/>
                </a:solidFill>
              </a:rPr>
              <a:t>Falsification engine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32BC84-93A9-4FA7-A815-BE71BA30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962650"/>
            <a:ext cx="1619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patient bootstrap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cell shuffle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external labels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spatial labels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0313A"/>
                </a:solidFill>
              </a:defRPr>
            </a:pPr>
            <a:r>
              <a:rPr sz="1200" b="0">
                <a:solidFill>
                  <a:srgbClr val="20313A"/>
                </a:solidFill>
              </a:rPr>
              <a:t>coordinates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6391EF-0767-4C06-BEE2-B6958465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71818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77732"/>
                </a:solidFill>
              </a:defRPr>
            </a:pPr>
            <a:r>
              <a:rPr sz="1125" b="1">
                <a:solidFill>
                  <a:srgbClr val="D77732"/>
                </a:solidFill>
              </a:rPr>
              <a:t>CI · calibration · null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ED01DA-7942-46D7-A948-E3F6EB40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400300"/>
            <a:ext cx="1809750" cy="51054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8E8E6"/>
          </a:solidFill>
          <a:ln xmlns:a="http://schemas.openxmlformats.org/drawingml/2006/main" w="13335">
            <a:solidFill>
              <a:srgbClr val="B9575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491382-6129-41D0-AA45-8FE2AB9D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26098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95757"/>
                </a:solidFill>
              </a:defRPr>
            </a:pPr>
            <a:r>
              <a:rPr sz="1500" b="1">
                <a:solidFill>
                  <a:srgbClr val="B95757"/>
                </a:solidFill>
              </a:rPr>
              <a:t>M6 · Gate</a:t>
            </a:r>
          </a:p>
        </p:txBody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838cc4aca492d"/>
          <a:stretch xmlns:a="http://schemas.openxmlformats.org/drawingml/2006/main"/>
        </p:blipFill>
        <p:spPr>
          <a:xfrm xmlns:a="http://schemas.openxmlformats.org/drawingml/2006/main">
            <a:off x="13106400" y="3277961"/>
            <a:ext cx="1543050" cy="1616529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2499AEF-994A-4D4A-91D7-A5FC59A5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1816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C9B69"/>
                </a:solidFill>
              </a:defRPr>
            </a:pPr>
            <a:r>
              <a:rPr sz="1350" b="1">
                <a:solidFill>
                  <a:srgbClr val="4C9B69"/>
                </a:solidFill>
              </a:rPr>
              <a:t>SUPPORTED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5F06E6-7896-4D9D-A779-7A0D91F8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4578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disease-state signal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A1F313-7A33-4166-B234-1C60B896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857875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5D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446D64-F2A5-4224-9200-36703379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0198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77732"/>
                </a:solidFill>
              </a:defRPr>
            </a:pPr>
            <a:r>
              <a:rPr sz="1350" b="1">
                <a:solidFill>
                  <a:srgbClr val="D77732"/>
                </a:solidFill>
              </a:rPr>
              <a:t>BOUNDED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CE0384-800F-4AF2-B8A3-309D4AF4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3055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incremental value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0313A"/>
                </a:solidFill>
              </a:defRPr>
            </a:pPr>
            <a:r>
              <a:rPr sz="1125" b="0">
                <a:solidFill>
                  <a:srgbClr val="20313A"/>
                </a:solidFill>
              </a:rPr>
              <a:t>not demonstrated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8F12B6-E298-4E4F-8F68-59ABA840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953250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5D9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3BC7C7-2A4C-4153-A603-5AEEA52F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086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637A"/>
                </a:solidFill>
              </a:defRPr>
            </a:pPr>
            <a:r>
              <a:rPr sz="1200" b="1">
                <a:solidFill>
                  <a:srgbClr val="2E637A"/>
                </a:solidFill>
              </a:rPr>
              <a:t>REFUTED</a:t>
            </a:r>
          </a:p>
        </p:txBody>
      </p:sp>
      <p:cxnSp>
        <p:nvCxnSpPr>
          <p:cNvPr id="234" name=""/>
          <p:cNvCxnSpPr>
            <a:stCxn xmlns:a="http://schemas.openxmlformats.org/drawingml/2006/main" id="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3600450" y="3000375"/>
            <a:ext cx="36195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0727C"/>
            </a:solidFill>
            <a:prstDash val="solid"/>
            <a:tailEnd type="triangle" w="med" len="med"/>
          </a:ln>
        </p:spPr>
      </p:cxnSp>
      <p:cxnSp>
        <p:nvCxnSpPr>
          <p:cNvPr id="235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4867275" y="36195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0727C"/>
            </a:solidFill>
            <a:prstDash val="solid"/>
            <a:tailEnd type="triangle" w="med" len="med"/>
          </a:ln>
        </p:spPr>
      </p:cxnSp>
      <p:cxnSp>
        <p:nvCxnSpPr>
          <p:cNvPr id="236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772150" y="4667250"/>
            <a:ext cx="3429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0727C"/>
            </a:solidFill>
            <a:prstDash val="solid"/>
            <a:tailEnd type="triangle" w="med" len="med"/>
          </a:ln>
        </p:spPr>
      </p:cxnSp>
      <p:cxnSp>
        <p:nvCxnSpPr>
          <p:cNvPr id="237" name=""/>
          <p:cNvCxnSpPr>
            <a:stCxn xmlns:a="http://schemas.openxmlformats.org/drawingml/2006/main" id="29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V="1">
            <a:off x="10210800" y="3505200"/>
            <a:ext cx="361950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0727C"/>
            </a:solidFill>
            <a:prstDash val="solid"/>
            <a:tailEnd type="triangle" w="med" len="med"/>
          </a:ln>
        </p:spPr>
      </p:cxnSp>
      <p:cxnSp>
        <p:nvCxnSpPr>
          <p:cNvPr id="238" name=""/>
          <p:cNvCxnSpPr>
            <a:stCxn xmlns:a="http://schemas.openxmlformats.org/drawingml/2006/main" id="51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11610975" y="4591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0727C"/>
            </a:solidFill>
            <a:prstDash val="solid"/>
            <a:tailEnd type="triangle" w="med" len="med"/>
          </a:ln>
        </p:spPr>
      </p:cxnSp>
      <p:cxnSp>
        <p:nvCxnSpPr>
          <p:cNvPr id="239" name=""/>
          <p:cNvCxnSpPr>
            <a:stCxn xmlns:a="http://schemas.openxmlformats.org/drawingml/2006/main" id="56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12649200" y="4953000"/>
            <a:ext cx="32385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0727C"/>
            </a:solidFill>
            <a:prstDash val="solid"/>
            <a:tailEnd type="triangle" w="med" len="me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F96256D-B871-4EB9-B363-124FF984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981950"/>
            <a:ext cx="868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0313A"/>
                </a:solidFill>
              </a:defRPr>
            </a:pPr>
            <a:r>
              <a:rPr sz="1425" b="1">
                <a:solidFill>
                  <a:srgbClr val="20313A"/>
                </a:solidFill>
              </a:rPr>
              <a:t>Candidate and comparator are generated inside the same outer fold</a:t>
            </a:r>
          </a:p>
        </p:txBody>
      </p:sp>
    </p:spTree>
    <p:extLst>
      <p:ext uri="{BB962C8B-B14F-4D97-AF65-F5344CB8AC3E}">
        <p14:creationId xmlns:p14="http://schemas.microsoft.com/office/powerpoint/2010/main" val="2085334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-4">
            <a:extLst xmlns:a="http://schemas.openxmlformats.org/drawingml/2006/main">
              <a:ext uri="{FF2B5EF4-FFF2-40B4-BE49-F238E27FC236}">
                <a16:creationId xmlns:a16="http://schemas.microsoft.com/office/drawing/2014/main" id="{47EED4A3-BFE7-4230-B0C9-1A46CA5D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8776E"/>
                </a:solidFill>
              </a:defRPr>
            </a:pPr>
            <a:r>
              <a:rPr sz="1200" b="1">
                <a:solidFill>
                  <a:srgbClr val="28776E"/>
                </a:solidFill>
              </a:rPr>
              <a:t>EVIDENCE CLOSURE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13F2EBE-DC90-4A07-B3B0-10FD3F9E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1314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313A"/>
                </a:solidFill>
              </a:defRPr>
            </a:pPr>
            <a:r>
              <a:rPr sz="3150" b="1">
                <a:solidFill>
                  <a:srgbClr val="20313A"/>
                </a:solidFill>
              </a:rPr>
              <a:t>Strict validation separates disease signal from incremental gain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338C855D-E107-42A8-AD7F-DDD86FE3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352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27C"/>
                </a:solidFill>
              </a:defRPr>
            </a:pPr>
            <a:r>
              <a:rPr sz="1350" b="0">
                <a:solidFill>
                  <a:srgbClr val="60727C"/>
                </a:solidFill>
              </a:rPr>
              <a:t>Four empirical checks close the paper's argument without turning association into unsupported causality.</a:t>
            </a:r>
          </a:p>
        </p:txBody>
      </p:sp>
      <p:sp>
        <p:nvSpPr>
          <p:cNvPr id="4" name="figure-no-4">
            <a:extLst xmlns:a="http://schemas.openxmlformats.org/drawingml/2006/main">
              <a:ext uri="{FF2B5EF4-FFF2-40B4-BE49-F238E27FC236}">
                <a16:creationId xmlns:a16="http://schemas.microsoft.com/office/drawing/2014/main" id="{57F81B14-9E75-49D2-B1F2-C83D0041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04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0727C"/>
                </a:solidFill>
              </a:defRPr>
            </a:pPr>
            <a:r>
              <a:rPr sz="1050" b="1">
                <a:solidFill>
                  <a:srgbClr val="60727C"/>
                </a:solidFill>
              </a:rPr>
              <a:t>FIGURE 8</a:t>
            </a:r>
          </a:p>
        </p:txBody>
      </p:sp>
      <p:sp>
        <p:nvSpPr>
          <p:cNvPr id="5" name="evidence-A">
            <a:extLst xmlns:a="http://schemas.openxmlformats.org/drawingml/2006/main">
              <a:ext uri="{FF2B5EF4-FFF2-40B4-BE49-F238E27FC236}">
                <a16:creationId xmlns:a16="http://schemas.microsoft.com/office/drawing/2014/main" id="{87D28C02-0FCA-4A5C-B781-45D37B95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333750" cy="4857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E8EA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D72EF-1795-4367-A51D-E7C58A51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000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5E8EA2"/>
          </a:solidFill>
          <a:ln xmlns:a="http://schemas.openxmlformats.org/drawingml/2006/main" w="13335">
            <a:solidFill>
              <a:srgbClr val="5E8EA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EFB45-2FD6-44F6-824A-FDFA586C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C1C31-7B60-48A7-9D82-16B9E122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313A"/>
                </a:solidFill>
              </a:defRPr>
            </a:pPr>
            <a:r>
              <a:rPr sz="1500" b="1">
                <a:solidFill>
                  <a:srgbClr val="20313A"/>
                </a:solidFill>
              </a:rPr>
              <a:t>Disease signal transfers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F2DF8-BD6C-4E85-9EEE-A4067C72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2533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7C"/>
                </a:solidFill>
              </a:defRPr>
            </a:pPr>
            <a:r>
              <a:rPr sz="1125" b="0">
                <a:solidFill>
                  <a:srgbClr val="60727C"/>
                </a:solidFill>
              </a:rPr>
              <a:t>Strict patient-level ROC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3ee35fb884ba1"/>
          <a:stretch xmlns:a="http://schemas.openxmlformats.org/drawingml/2006/main"/>
        </p:blipFill>
        <p:spPr>
          <a:xfrm xmlns:a="http://schemas.openxmlformats.org/drawingml/2006/main">
            <a:off x="628650" y="3323260"/>
            <a:ext cx="3105150" cy="1925979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11" name="evidence-B">
            <a:extLst xmlns:a="http://schemas.openxmlformats.org/drawingml/2006/main">
              <a:ext uri="{FF2B5EF4-FFF2-40B4-BE49-F238E27FC236}">
                <a16:creationId xmlns:a16="http://schemas.microsoft.com/office/drawing/2014/main" id="{8A56F718-95C3-4B41-8B19-DEB5C464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3333750" cy="4857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77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B564A-9FAC-4D55-BA26-AC1A8332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4000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77732"/>
          </a:solidFill>
          <a:ln xmlns:a="http://schemas.openxmlformats.org/drawingml/2006/main" w="13335">
            <a:solidFill>
              <a:srgbClr val="D777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B4469-9658-497E-A523-38E0D260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240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71015-62F6-4DBA-AFDD-895B45C5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573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313A"/>
                </a:solidFill>
              </a:defRPr>
            </a:pPr>
            <a:r>
              <a:rPr sz="1500" b="1">
                <a:solidFill>
                  <a:srgbClr val="20313A"/>
                </a:solidFill>
              </a:rPr>
              <a:t>Global fitting is optimistic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4D29E-00FC-4524-8C6B-ED202A2B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52625"/>
            <a:ext cx="2533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7C"/>
                </a:solidFill>
              </a:defRPr>
            </a:pPr>
            <a:r>
              <a:rPr sz="1125" b="0">
                <a:solidFill>
                  <a:srgbClr val="60727C"/>
                </a:solidFill>
              </a:rPr>
              <a:t>Fold-local refit reduces AUROC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0c7f8c640416a"/>
          <a:stretch xmlns:a="http://schemas.openxmlformats.org/drawingml/2006/main"/>
        </p:blipFill>
        <p:spPr>
          <a:xfrm xmlns:a="http://schemas.openxmlformats.org/drawingml/2006/main">
            <a:off x="4210050" y="2816849"/>
            <a:ext cx="3105150" cy="2938803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17" name="evidence-C">
            <a:extLst xmlns:a="http://schemas.openxmlformats.org/drawingml/2006/main">
              <a:ext uri="{FF2B5EF4-FFF2-40B4-BE49-F238E27FC236}">
                <a16:creationId xmlns:a16="http://schemas.microsoft.com/office/drawing/2014/main" id="{03761DD2-C103-44A9-A360-29C9B517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24000"/>
            <a:ext cx="3333750" cy="4857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49A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E1D78-B499-40DA-B9EA-ED7B567F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4000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C49A55"/>
          </a:solidFill>
          <a:ln xmlns:a="http://schemas.openxmlformats.org/drawingml/2006/main" w="13335">
            <a:solidFill>
              <a:srgbClr val="C49A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7BA44-3701-45D3-9513-92ACBBEC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240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4D096-0DE9-4C20-831A-3CDA3480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573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313A"/>
                </a:solidFill>
              </a:defRPr>
            </a:pPr>
            <a:r>
              <a:rPr sz="1500" b="1">
                <a:solidFill>
                  <a:srgbClr val="20313A"/>
                </a:solidFill>
              </a:rPr>
              <a:t>Ranking ≠ calibration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C7F13-1C5E-4429-AE05-8662B8B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2533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7C"/>
                </a:solidFill>
              </a:defRPr>
            </a:pPr>
            <a:r>
              <a:rPr sz="1125" b="0">
                <a:solidFill>
                  <a:srgbClr val="60727C"/>
                </a:solidFill>
              </a:rPr>
              <a:t>External reliability remains poor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dab63d5ad414d"/>
          <a:stretch xmlns:a="http://schemas.openxmlformats.org/drawingml/2006/main"/>
        </p:blipFill>
        <p:spPr>
          <a:xfrm xmlns:a="http://schemas.openxmlformats.org/drawingml/2006/main">
            <a:off x="7791450" y="2733675"/>
            <a:ext cx="31051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23" name="evidence-D">
            <a:extLst xmlns:a="http://schemas.openxmlformats.org/drawingml/2006/main">
              <a:ext uri="{FF2B5EF4-FFF2-40B4-BE49-F238E27FC236}">
                <a16:creationId xmlns:a16="http://schemas.microsoft.com/office/drawing/2014/main" id="{1CDA4448-9835-4E4F-B699-BCEB750F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524000"/>
            <a:ext cx="3333750" cy="4857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9A9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D6FC5-E295-4332-839B-AFDF060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676400"/>
            <a:ext cx="4000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4F9A91"/>
          </a:solidFill>
          <a:ln xmlns:a="http://schemas.openxmlformats.org/drawingml/2006/main" w="13335">
            <a:solidFill>
              <a:srgbClr val="4F9A9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B5DEB3-C7EB-43FC-A4D7-62BF3095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7240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A1C1A-B930-4C09-8424-313AF95D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6573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313A"/>
                </a:solidFill>
              </a:defRPr>
            </a:pPr>
            <a:r>
              <a:rPr sz="1500" b="1">
                <a:solidFill>
                  <a:srgbClr val="20313A"/>
                </a:solidFill>
              </a:rPr>
              <a:t>Coordinates add no detectable gain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42001-DEAC-4A99-A575-6B14899B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952625"/>
            <a:ext cx="2533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27C"/>
                </a:solidFill>
              </a:defRPr>
            </a:pPr>
            <a:r>
              <a:rPr sz="1125" b="0">
                <a:solidFill>
                  <a:srgbClr val="60727C"/>
                </a:solidFill>
              </a:rPr>
              <a:t>No spatial increment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240e6a925465d"/>
          <a:stretch xmlns:a="http://schemas.openxmlformats.org/drawingml/2006/main"/>
        </p:blipFill>
        <p:spPr>
          <a:xfrm xmlns:a="http://schemas.openxmlformats.org/drawingml/2006/main">
            <a:off x="12141910" y="2362200"/>
            <a:ext cx="1567031" cy="175260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c08db00854542"/>
          <a:stretch xmlns:a="http://schemas.openxmlformats.org/drawingml/2006/main"/>
        </p:blipFill>
        <p:spPr>
          <a:xfrm xmlns:a="http://schemas.openxmlformats.org/drawingml/2006/main">
            <a:off x="12202870" y="4229100"/>
            <a:ext cx="1445111" cy="19812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58FC67-5F7E-4F79-83DC-CEBC8C83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743700"/>
            <a:ext cx="129159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4F4"/>
          </a:solidFill>
          <a:ln xmlns:a="http://schemas.openxmlformats.org/drawingml/2006/main" w="13335">
            <a:solidFill>
              <a:srgbClr val="C9D5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8883CB-C307-4CC8-8787-D23E3576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53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313A"/>
                </a:solidFill>
              </a:defRPr>
            </a:pPr>
            <a:r>
              <a:rPr sz="1350" b="1">
                <a:solidFill>
                  <a:srgbClr val="20313A"/>
                </a:solidFill>
              </a:rPr>
              <a:t>EVIDENCE-GRADED CONCLUSION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65FEC0-739C-4A89-8898-4D50AE50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915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C9B69"/>
                </a:solidFill>
              </a:defRPr>
            </a:pPr>
            <a:r>
              <a:rPr sz="1500" b="1">
                <a:solidFill>
                  <a:srgbClr val="4C9B69"/>
                </a:solidFill>
              </a:rPr>
              <a:t>Supported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D98A3D-2E99-4C1B-B0D9-5B134D64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9056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313A"/>
                </a:solidFill>
              </a:defRPr>
            </a:pPr>
            <a:r>
              <a:rPr sz="1350" b="0">
                <a:solidFill>
                  <a:srgbClr val="20313A"/>
                </a:solidFill>
              </a:rPr>
              <a:t>patient-level psoriasis state is reproducible across resolutions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ADB9A8-EAFB-4250-9BC0-C512F7A0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009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77732"/>
                </a:solidFill>
              </a:defRPr>
            </a:pPr>
            <a:r>
              <a:rPr sz="1500" b="1">
                <a:solidFill>
                  <a:srgbClr val="D77732"/>
                </a:solidFill>
              </a:rPr>
              <a:t>Bounded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67A7F5-6AF1-4CF4-9B28-B35E86E1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3723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313A"/>
                </a:solidFill>
              </a:defRPr>
            </a:pPr>
            <a:r>
              <a:rPr sz="1350" b="0">
                <a:solidFill>
                  <a:srgbClr val="20313A"/>
                </a:solidFill>
              </a:rPr>
              <a:t>low-rank, cell-neighborhood and spatial graph views do not add reproducible ΔAUROC ≥ 0.05</a:t>
            </a:r>
          </a:p>
        </p:txBody>
      </p:sp>
    </p:spTree>
    <p:extLst>
      <p:ext uri="{BB962C8B-B14F-4D97-AF65-F5344CB8AC3E}">
        <p14:creationId xmlns:p14="http://schemas.microsoft.com/office/powerpoint/2010/main" val="212147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2026-08-13T10:23:14.5870000Z</dcterms:created>
  <dcterms:modified xsi:type="dcterms:W3CDTF">2026-08-13T10:23:14.5870000Z</dcterms:modified>
</coreProperties>
</file>